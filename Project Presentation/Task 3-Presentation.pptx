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handoutMasterIdLst>
    <p:handoutMasterId r:id="rId12"/>
  </p:handoutMasterIdLst>
  <p:sldIdLst>
    <p:sldId id="256" r:id="rId2"/>
    <p:sldId id="257" r:id="rId3"/>
    <p:sldId id="271" r:id="rId4"/>
    <p:sldId id="258" r:id="rId5"/>
    <p:sldId id="267" r:id="rId6"/>
    <p:sldId id="268" r:id="rId7"/>
    <p:sldId id="269" r:id="rId8"/>
    <p:sldId id="260" r:id="rId9"/>
    <p:sldId id="27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1E4AEA4-8DFA-4A89-87EB-49C32662AFE0}">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5" autoAdjust="0"/>
    <p:restoredTop sz="94660"/>
  </p:normalViewPr>
  <p:slideViewPr>
    <p:cSldViewPr>
      <p:cViewPr varScale="1">
        <p:scale>
          <a:sx n="95" d="100"/>
          <a:sy n="95" d="100"/>
        </p:scale>
        <p:origin x="67" y="322"/>
      </p:cViewPr>
      <p:guideLst>
        <p:guide pos="3840"/>
        <p:guide orient="horz" pos="2160"/>
      </p:guideLst>
    </p:cSldViewPr>
  </p:slideViewPr>
  <p:notesTextViewPr>
    <p:cViewPr>
      <p:scale>
        <a:sx n="1" d="1"/>
        <a:sy n="1" d="1"/>
      </p:scale>
      <p:origin x="0" y="0"/>
    </p:cViewPr>
  </p:notesTextViewPr>
  <p:notesViewPr>
    <p:cSldViewPr showGuides="1">
      <p:cViewPr varScale="1">
        <p:scale>
          <a:sx n="63" d="100"/>
          <a:sy n="63" d="100"/>
        </p:scale>
        <p:origin x="2838"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43B725B-653D-4166-A8E9-72A38A1847CF}" type="datetimeFigureOut">
              <a:rPr lang="en-US"/>
              <a:t>5/27/2026</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E861E8E-D392-497B-BB21-122DD7C27CF3}" type="slidenum">
              <a:rPr/>
              <a:t>‹#›</a:t>
            </a:fld>
            <a:endParaRPr/>
          </a:p>
        </p:txBody>
      </p:sp>
    </p:spTree>
    <p:extLst>
      <p:ext uri="{BB962C8B-B14F-4D97-AF65-F5344CB8AC3E}">
        <p14:creationId xmlns:p14="http://schemas.microsoft.com/office/powerpoint/2010/main" val="1208353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3F64CD-0576-4A9A-BD06-7889D6E60BDC}" type="datetimeFigureOut">
              <a:rPr lang="en-US"/>
              <a:t>5/27/2026</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55D449-B875-4B8D-8E66-224D27E54C9A}" type="slidenum">
              <a:rPr/>
              <a:t>‹#›</a:t>
            </a:fld>
            <a:endParaRPr/>
          </a:p>
        </p:txBody>
      </p:sp>
    </p:spTree>
    <p:extLst>
      <p:ext uri="{BB962C8B-B14F-4D97-AF65-F5344CB8AC3E}">
        <p14:creationId xmlns:p14="http://schemas.microsoft.com/office/powerpoint/2010/main" val="13499799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gradFill flip="none" rotWithShape="1">
          <a:gsLst>
            <a:gs pos="0">
              <a:srgbClr val="D9D9D9"/>
            </a:gs>
            <a:gs pos="100000">
              <a:schemeClr val="bg1"/>
            </a:gs>
          </a:gsLst>
          <a:lin ang="8100000" scaled="0"/>
          <a:tileRect/>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26225" y="1828800"/>
            <a:ext cx="4098175" cy="3177380"/>
          </a:xfrm>
        </p:spPr>
        <p:txBody>
          <a:bodyPr anchor="b">
            <a:normAutofit/>
          </a:bodyPr>
          <a:lstStyle>
            <a:lvl1pPr algn="l">
              <a:lnSpc>
                <a:spcPct val="80000"/>
              </a:lnSpc>
              <a:defRPr sz="5400">
                <a:solidFill>
                  <a:schemeClr val="accent1"/>
                </a:solidFill>
              </a:defRPr>
            </a:lvl1pPr>
          </a:lstStyle>
          <a:p>
            <a:r>
              <a:rPr lang="en-US" smtClean="0"/>
              <a:t>Click to edit Master title style</a:t>
            </a:r>
            <a:endParaRPr/>
          </a:p>
        </p:txBody>
      </p:sp>
      <p:sp>
        <p:nvSpPr>
          <p:cNvPr id="3" name="Subtitle 2"/>
          <p:cNvSpPr>
            <a:spLocks noGrp="1"/>
          </p:cNvSpPr>
          <p:nvPr>
            <p:ph type="subTitle" idx="1"/>
          </p:nvPr>
        </p:nvSpPr>
        <p:spPr>
          <a:xfrm>
            <a:off x="626225" y="5181600"/>
            <a:ext cx="4098175" cy="685800"/>
          </a:xfrm>
        </p:spPr>
        <p:txBody>
          <a:bodyPr>
            <a:normAutofit/>
          </a:bodyPr>
          <a:lstStyle>
            <a:lvl1pPr marL="0" indent="0" algn="l">
              <a:buNone/>
              <a:defRPr sz="2000" cap="all" baseline="0">
                <a:solidFill>
                  <a:schemeClr val="tx1">
                    <a:lumMod val="50000"/>
                    <a:lumOff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a:p>
        </p:txBody>
      </p:sp>
      <p:pic>
        <p:nvPicPr>
          <p:cNvPr id="7" name="Picture 6" descr="EKG line"/>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5188688" y="-1"/>
            <a:ext cx="7000137" cy="6858001"/>
          </a:xfrm>
          <a:prstGeom prst="rect">
            <a:avLst/>
          </a:prstGeom>
        </p:spPr>
      </p:pic>
    </p:spTree>
    <p:extLst>
      <p:ext uri="{BB962C8B-B14F-4D97-AF65-F5344CB8AC3E}">
        <p14:creationId xmlns:p14="http://schemas.microsoft.com/office/powerpoint/2010/main" val="798862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mod="1">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lvl5pPr>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0ADAB623-F840-407C-AED8-86058DAA3155}" type="datetime1">
              <a:rPr lang="en-US" smtClean="0"/>
              <a:t>5/27/2026</a:t>
            </a:fld>
            <a:endParaRPr/>
          </a:p>
        </p:txBody>
      </p:sp>
      <p:sp>
        <p:nvSpPr>
          <p:cNvPr id="6" name="Slide Number Placeholder 5"/>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3112444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ection Header">
    <p:bg>
      <p:bgPr>
        <a:gradFill flip="none" rotWithShape="1">
          <a:gsLst>
            <a:gs pos="0">
              <a:schemeClr val="accent1"/>
            </a:gs>
            <a:gs pos="100000">
              <a:schemeClr val="accent1">
                <a:lumMod val="75000"/>
              </a:schemeClr>
            </a:gs>
          </a:gsLst>
          <a:lin ang="5400000" scaled="0"/>
          <a:tileRect/>
        </a:gradFill>
        <a:effectLst/>
      </p:bgPr>
    </p:bg>
    <p:spTree>
      <p:nvGrpSpPr>
        <p:cNvPr id="1" name=""/>
        <p:cNvGrpSpPr/>
        <p:nvPr/>
      </p:nvGrpSpPr>
      <p:grpSpPr>
        <a:xfrm>
          <a:off x="0" y="0"/>
          <a:ext cx="0" cy="0"/>
          <a:chOff x="0" y="0"/>
          <a:chExt cx="0" cy="0"/>
        </a:xfrm>
      </p:grpSpPr>
      <p:sp>
        <p:nvSpPr>
          <p:cNvPr id="7" name="Rectangle 6" descr="Rectangle"/>
          <p:cNvSpPr/>
          <p:nvPr/>
        </p:nvSpPr>
        <p:spPr>
          <a:xfrm>
            <a:off x="265112" y="228600"/>
            <a:ext cx="11658600" cy="6400800"/>
          </a:xfrm>
          <a:prstGeom prst="rect">
            <a:avLst/>
          </a:prstGeom>
          <a:noFill/>
          <a:ln w="15875">
            <a:gradFill flip="none" rotWithShape="1">
              <a:gsLst>
                <a:gs pos="0">
                  <a:schemeClr val="bg1">
                    <a:lumMod val="75000"/>
                  </a:schemeClr>
                </a:gs>
                <a:gs pos="100000">
                  <a:schemeClr val="bg1"/>
                </a:gs>
              </a:gsLst>
              <a:lin ang="2700000" scaled="1"/>
              <a:tileRect/>
            </a:gra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1066800" y="1828800"/>
            <a:ext cx="7772400" cy="3177380"/>
          </a:xfrm>
        </p:spPr>
        <p:txBody>
          <a:bodyPr anchor="b">
            <a:normAutofit/>
          </a:bodyPr>
          <a:lstStyle>
            <a:lvl1pPr>
              <a:lnSpc>
                <a:spcPct val="80000"/>
              </a:lnSpc>
              <a:defRPr sz="5400"/>
            </a:lvl1pPr>
          </a:lstStyle>
          <a:p>
            <a:r>
              <a:rPr lang="en-US" smtClean="0"/>
              <a:t>Click to edit Master title style</a:t>
            </a:r>
            <a:endParaRPr/>
          </a:p>
        </p:txBody>
      </p:sp>
      <p:sp>
        <p:nvSpPr>
          <p:cNvPr id="3" name="Text Placeholder 2"/>
          <p:cNvSpPr>
            <a:spLocks noGrp="1"/>
          </p:cNvSpPr>
          <p:nvPr>
            <p:ph type="body" idx="1"/>
          </p:nvPr>
        </p:nvSpPr>
        <p:spPr>
          <a:xfrm>
            <a:off x="1066800" y="5181600"/>
            <a:ext cx="7772400" cy="685800"/>
          </a:xfrm>
        </p:spPr>
        <p:txBody>
          <a:bodyPr>
            <a:normAutofit/>
          </a:bodyPr>
          <a:lstStyle>
            <a:lvl1pPr marL="0" indent="0">
              <a:buNone/>
              <a:defRPr sz="2000" cap="all" baseline="0">
                <a:solidFill>
                  <a:schemeClr val="bg1"/>
                </a:solidFill>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Edit Master text styles</a:t>
            </a:r>
          </a:p>
        </p:txBody>
      </p:sp>
    </p:spTree>
    <p:extLst>
      <p:ext uri="{BB962C8B-B14F-4D97-AF65-F5344CB8AC3E}">
        <p14:creationId xmlns:p14="http://schemas.microsoft.com/office/powerpoint/2010/main" val="3506778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1066800" y="1825624"/>
            <a:ext cx="4800600" cy="4575175"/>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Content Placeholder 3"/>
          <p:cNvSpPr>
            <a:spLocks noGrp="1"/>
          </p:cNvSpPr>
          <p:nvPr>
            <p:ph sz="half" idx="2"/>
          </p:nvPr>
        </p:nvSpPr>
        <p:spPr>
          <a:xfrm>
            <a:off x="6324600" y="1825624"/>
            <a:ext cx="4800600" cy="4575175"/>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6" name="Footer Placeholder 5"/>
          <p:cNvSpPr>
            <a:spLocks noGrp="1"/>
          </p:cNvSpPr>
          <p:nvPr>
            <p:ph type="ftr" sz="quarter" idx="11"/>
          </p:nvPr>
        </p:nvSpPr>
        <p:spPr/>
        <p:txBody>
          <a:bodyPr/>
          <a:lstStyle/>
          <a:p>
            <a:endParaRPr/>
          </a:p>
        </p:txBody>
      </p:sp>
      <p:sp>
        <p:nvSpPr>
          <p:cNvPr id="5" name="Date Placeholder 4"/>
          <p:cNvSpPr>
            <a:spLocks noGrp="1"/>
          </p:cNvSpPr>
          <p:nvPr>
            <p:ph type="dt" sz="half" idx="10"/>
          </p:nvPr>
        </p:nvSpPr>
        <p:spPr/>
        <p:txBody>
          <a:bodyPr/>
          <a:lstStyle/>
          <a:p>
            <a:fld id="{067B95DA-E2A8-4CEF-BEBC-EA61FBEF53A0}" type="datetime1">
              <a:rPr lang="en-US" smtClean="0"/>
              <a:t>5/27/2026</a:t>
            </a:fld>
            <a:endParaRPr/>
          </a:p>
        </p:txBody>
      </p:sp>
      <p:sp>
        <p:nvSpPr>
          <p:cNvPr id="7" name="Slide Number Placeholder 6"/>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4044567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Text Placeholder 2"/>
          <p:cNvSpPr>
            <a:spLocks noGrp="1"/>
          </p:cNvSpPr>
          <p:nvPr>
            <p:ph type="body" idx="1"/>
          </p:nvPr>
        </p:nvSpPr>
        <p:spPr>
          <a:xfrm>
            <a:off x="1066800" y="1828799"/>
            <a:ext cx="4800600" cy="762000"/>
          </a:xfrm>
        </p:spPr>
        <p:txBody>
          <a:bodyPr anchor="ctr">
            <a:noAutofit/>
          </a:bodyPr>
          <a:lstStyle>
            <a:lvl1pPr marL="0" indent="0">
              <a:buNone/>
              <a:defRPr sz="2400" b="0" cap="none" baseline="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66800" y="2590799"/>
            <a:ext cx="4800600" cy="3810033"/>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Text Placeholder 4"/>
          <p:cNvSpPr>
            <a:spLocks noGrp="1"/>
          </p:cNvSpPr>
          <p:nvPr>
            <p:ph type="body" sz="quarter" idx="3"/>
          </p:nvPr>
        </p:nvSpPr>
        <p:spPr>
          <a:xfrm>
            <a:off x="6324600" y="1828799"/>
            <a:ext cx="4800600" cy="762000"/>
          </a:xfrm>
        </p:spPr>
        <p:txBody>
          <a:bodyPr anchor="ctr">
            <a:noAutofit/>
          </a:bodyPr>
          <a:lstStyle>
            <a:lvl1pPr marL="0" indent="0">
              <a:buNone/>
              <a:defRPr sz="2400" b="0" cap="none" baseline="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324600" y="2590799"/>
            <a:ext cx="4800600" cy="3810033"/>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8" name="Footer Placeholder 7"/>
          <p:cNvSpPr>
            <a:spLocks noGrp="1"/>
          </p:cNvSpPr>
          <p:nvPr>
            <p:ph type="ftr" sz="quarter" idx="11"/>
          </p:nvPr>
        </p:nvSpPr>
        <p:spPr/>
        <p:txBody>
          <a:bodyPr/>
          <a:lstStyle/>
          <a:p>
            <a:endParaRPr/>
          </a:p>
        </p:txBody>
      </p:sp>
      <p:sp>
        <p:nvSpPr>
          <p:cNvPr id="7" name="Date Placeholder 6"/>
          <p:cNvSpPr>
            <a:spLocks noGrp="1"/>
          </p:cNvSpPr>
          <p:nvPr>
            <p:ph type="dt" sz="half" idx="10"/>
          </p:nvPr>
        </p:nvSpPr>
        <p:spPr/>
        <p:txBody>
          <a:bodyPr/>
          <a:lstStyle/>
          <a:p>
            <a:fld id="{1781BD59-6CCD-4F0C-9383-BD4AAB7F8958}" type="datetime1">
              <a:rPr lang="en-US" smtClean="0"/>
              <a:t>5/27/2026</a:t>
            </a:fld>
            <a:endParaRPr/>
          </a:p>
        </p:txBody>
      </p:sp>
      <p:sp>
        <p:nvSpPr>
          <p:cNvPr id="9" name="Slide Number Placeholder 8"/>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3397906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4" name="Footer Placeholder 3"/>
          <p:cNvSpPr>
            <a:spLocks noGrp="1"/>
          </p:cNvSpPr>
          <p:nvPr>
            <p:ph type="ftr" sz="quarter" idx="11"/>
          </p:nvPr>
        </p:nvSpPr>
        <p:spPr/>
        <p:txBody>
          <a:bodyPr/>
          <a:lstStyle/>
          <a:p>
            <a:endParaRPr/>
          </a:p>
        </p:txBody>
      </p:sp>
      <p:sp>
        <p:nvSpPr>
          <p:cNvPr id="3" name="Date Placeholder 2"/>
          <p:cNvSpPr>
            <a:spLocks noGrp="1"/>
          </p:cNvSpPr>
          <p:nvPr>
            <p:ph type="dt" sz="half" idx="10"/>
          </p:nvPr>
        </p:nvSpPr>
        <p:spPr/>
        <p:txBody>
          <a:bodyPr/>
          <a:lstStyle/>
          <a:p>
            <a:fld id="{95F56B5F-D085-41A9-901B-150296EC66B9}" type="datetime1">
              <a:rPr lang="en-US" smtClean="0"/>
              <a:t>5/27/2026</a:t>
            </a:fld>
            <a:endParaRPr/>
          </a:p>
        </p:txBody>
      </p:sp>
      <p:sp>
        <p:nvSpPr>
          <p:cNvPr id="5" name="Slide Number Placeholder 4"/>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3238976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a:p>
        </p:txBody>
      </p:sp>
      <p:sp>
        <p:nvSpPr>
          <p:cNvPr id="2" name="Date Placeholder 1"/>
          <p:cNvSpPr>
            <a:spLocks noGrp="1"/>
          </p:cNvSpPr>
          <p:nvPr>
            <p:ph type="dt" sz="half" idx="10"/>
          </p:nvPr>
        </p:nvSpPr>
        <p:spPr/>
        <p:txBody>
          <a:bodyPr/>
          <a:lstStyle/>
          <a:p>
            <a:fld id="{97766BBC-FF8A-4168-950D-A85EDAFA933E}" type="datetime1">
              <a:rPr lang="en-US" smtClean="0"/>
              <a:t>5/27/2026</a:t>
            </a:fld>
            <a:endParaRPr/>
          </a:p>
        </p:txBody>
      </p:sp>
      <p:sp>
        <p:nvSpPr>
          <p:cNvPr id="4" name="Slide Number Placeholder 3"/>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2146817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descr="Rectangle"/>
          <p:cNvSpPr/>
          <p:nvPr/>
        </p:nvSpPr>
        <p:spPr>
          <a:xfrm>
            <a:off x="7008812" y="0"/>
            <a:ext cx="5180013" cy="6858000"/>
          </a:xfrm>
          <a:prstGeom prst="rect">
            <a:avLst/>
          </a:prstGeom>
          <a:gradFill flip="none" rotWithShape="1">
            <a:gsLst>
              <a:gs pos="0">
                <a:schemeClr val="accent1"/>
              </a:gs>
              <a:gs pos="100000">
                <a:schemeClr val="accent1">
                  <a:lumMod val="7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descr="Rectangle"/>
          <p:cNvSpPr/>
          <p:nvPr/>
        </p:nvSpPr>
        <p:spPr>
          <a:xfrm>
            <a:off x="7255668" y="228600"/>
            <a:ext cx="4686300" cy="6400800"/>
          </a:xfrm>
          <a:prstGeom prst="rect">
            <a:avLst/>
          </a:prstGeom>
          <a:noFill/>
          <a:ln w="15875">
            <a:gradFill flip="none" rotWithShape="1">
              <a:gsLst>
                <a:gs pos="0">
                  <a:schemeClr val="bg1">
                    <a:lumMod val="75000"/>
                  </a:schemeClr>
                </a:gs>
                <a:gs pos="100000">
                  <a:schemeClr val="bg1">
                    <a:lumMod val="95000"/>
                  </a:schemeClr>
                </a:gs>
              </a:gsLst>
              <a:lin ang="2700000" scaled="1"/>
              <a:tileRect/>
            </a:gra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7632700" y="3200400"/>
            <a:ext cx="3932237" cy="1752600"/>
          </a:xfrm>
        </p:spPr>
        <p:txBody>
          <a:bodyPr anchor="b">
            <a:normAutofit/>
          </a:bodyPr>
          <a:lstStyle>
            <a:lvl1pPr>
              <a:defRPr sz="3600"/>
            </a:lvl1pPr>
          </a:lstStyle>
          <a:p>
            <a:r>
              <a:rPr lang="en-US" smtClean="0"/>
              <a:t>Click to edit Master title style</a:t>
            </a:r>
            <a:endParaRPr/>
          </a:p>
        </p:txBody>
      </p:sp>
      <p:sp>
        <p:nvSpPr>
          <p:cNvPr id="3" name="Content Placeholder 2"/>
          <p:cNvSpPr>
            <a:spLocks noGrp="1"/>
          </p:cNvSpPr>
          <p:nvPr>
            <p:ph idx="1"/>
          </p:nvPr>
        </p:nvSpPr>
        <p:spPr>
          <a:xfrm>
            <a:off x="609600" y="457201"/>
            <a:ext cx="5943600" cy="59436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Text Placeholder 3"/>
          <p:cNvSpPr>
            <a:spLocks noGrp="1"/>
          </p:cNvSpPr>
          <p:nvPr>
            <p:ph type="body" sz="half" idx="2"/>
          </p:nvPr>
        </p:nvSpPr>
        <p:spPr>
          <a:xfrm>
            <a:off x="7632699" y="5029200"/>
            <a:ext cx="3932237" cy="1371600"/>
          </a:xfrm>
        </p:spPr>
        <p:txBody>
          <a:bodyPr>
            <a:normAutofit/>
          </a:bodyPr>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Tree>
    <p:extLst>
      <p:ext uri="{BB962C8B-B14F-4D97-AF65-F5344CB8AC3E}">
        <p14:creationId xmlns:p14="http://schemas.microsoft.com/office/powerpoint/2010/main" val="1667374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descr="Rectangle"/>
          <p:cNvSpPr/>
          <p:nvPr/>
        </p:nvSpPr>
        <p:spPr>
          <a:xfrm>
            <a:off x="7008812" y="0"/>
            <a:ext cx="5180013" cy="6858000"/>
          </a:xfrm>
          <a:prstGeom prst="rect">
            <a:avLst/>
          </a:prstGeom>
          <a:gradFill flip="none" rotWithShape="1">
            <a:gsLst>
              <a:gs pos="0">
                <a:schemeClr val="accent1"/>
              </a:gs>
              <a:gs pos="100000">
                <a:schemeClr val="accent1">
                  <a:lumMod val="7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descr="Rectangle"/>
          <p:cNvSpPr/>
          <p:nvPr/>
        </p:nvSpPr>
        <p:spPr>
          <a:xfrm>
            <a:off x="7255668" y="228600"/>
            <a:ext cx="4686300" cy="6400800"/>
          </a:xfrm>
          <a:prstGeom prst="rect">
            <a:avLst/>
          </a:prstGeom>
          <a:noFill/>
          <a:ln w="15875">
            <a:gradFill flip="none" rotWithShape="1">
              <a:gsLst>
                <a:gs pos="0">
                  <a:schemeClr val="bg1">
                    <a:lumMod val="75000"/>
                  </a:schemeClr>
                </a:gs>
                <a:gs pos="100000">
                  <a:schemeClr val="bg1">
                    <a:lumMod val="95000"/>
                  </a:schemeClr>
                </a:gs>
              </a:gsLst>
              <a:lin ang="2700000" scaled="1"/>
              <a:tileRect/>
            </a:gra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7635240" y="3200400"/>
            <a:ext cx="3932237" cy="1752600"/>
          </a:xfrm>
        </p:spPr>
        <p:txBody>
          <a:bodyPr anchor="b">
            <a:normAutofit/>
          </a:bodyPr>
          <a:lstStyle>
            <a:lvl1pPr>
              <a:defRPr sz="3600"/>
            </a:lvl1pPr>
          </a:lstStyle>
          <a:p>
            <a:r>
              <a:rPr lang="en-US" smtClean="0"/>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1" y="0"/>
            <a:ext cx="7008810" cy="6857999"/>
          </a:xfrm>
        </p:spPr>
        <p:txBody>
          <a:bodyPr tIns="45720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ext Placeholder 3"/>
          <p:cNvSpPr>
            <a:spLocks noGrp="1"/>
          </p:cNvSpPr>
          <p:nvPr>
            <p:ph type="body" sz="half" idx="2"/>
          </p:nvPr>
        </p:nvSpPr>
        <p:spPr>
          <a:xfrm>
            <a:off x="7635240" y="5029200"/>
            <a:ext cx="3932237" cy="1374648"/>
          </a:xfrm>
        </p:spPr>
        <p:txBody>
          <a:bodyPr/>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Tree>
    <p:extLst>
      <p:ext uri="{BB962C8B-B14F-4D97-AF65-F5344CB8AC3E}">
        <p14:creationId xmlns:p14="http://schemas.microsoft.com/office/powerpoint/2010/main" val="2977249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2694FAB2-C41C-442D-A0CC-49A0D3C2D8A4}" type="datetime1">
              <a:rPr lang="en-US" smtClean="0"/>
              <a:t>5/27/2026</a:t>
            </a:fld>
            <a:endParaRPr/>
          </a:p>
        </p:txBody>
      </p:sp>
      <p:sp>
        <p:nvSpPr>
          <p:cNvPr id="6" name="Slide Number Placeholder 5"/>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2477154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descr="Rectangle"/>
          <p:cNvSpPr/>
          <p:nvPr/>
        </p:nvSpPr>
        <p:spPr>
          <a:xfrm>
            <a:off x="9982200" y="0"/>
            <a:ext cx="2209800" cy="6858000"/>
          </a:xfrm>
          <a:prstGeom prst="rect">
            <a:avLst/>
          </a:prstGeom>
          <a:gradFill flip="none" rotWithShape="1">
            <a:gsLst>
              <a:gs pos="0">
                <a:schemeClr val="accent1"/>
              </a:gs>
              <a:gs pos="100000">
                <a:schemeClr val="accent1">
                  <a:lumMod val="7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10058399" y="457201"/>
            <a:ext cx="2057401" cy="5943600"/>
          </a:xfrm>
        </p:spPr>
        <p:txBody>
          <a:bodyPr vert="eaVert"/>
          <a:lstStyle/>
          <a:p>
            <a:r>
              <a:rPr lang="en-US" smtClean="0"/>
              <a:t>Click to edit Master title style</a:t>
            </a:r>
            <a:endParaRPr/>
          </a:p>
        </p:txBody>
      </p:sp>
      <p:sp>
        <p:nvSpPr>
          <p:cNvPr id="3" name="Vertical Text Placeholder 2"/>
          <p:cNvSpPr>
            <a:spLocks noGrp="1"/>
          </p:cNvSpPr>
          <p:nvPr>
            <p:ph type="body" orient="vert" idx="1"/>
          </p:nvPr>
        </p:nvSpPr>
        <p:spPr>
          <a:xfrm>
            <a:off x="609600" y="457200"/>
            <a:ext cx="9067800" cy="5943599"/>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69627EF1-955F-4C9E-BD8F-35930626F59C}" type="datetime1">
              <a:rPr lang="en-US" smtClean="0"/>
              <a:t>5/27/2026</a:t>
            </a:fld>
            <a:endParaRPr/>
          </a:p>
        </p:txBody>
      </p:sp>
      <p:sp>
        <p:nvSpPr>
          <p:cNvPr id="6" name="Slide Number Placeholder 5"/>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2524635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D9D9D9"/>
            </a:gs>
            <a:gs pos="100000">
              <a:schemeClr val="bg1"/>
            </a:gs>
          </a:gsLst>
          <a:lin ang="16200000" scaled="1"/>
          <a:tileRect/>
        </a:gradFill>
        <a:effectLst/>
      </p:bgPr>
    </p:bg>
    <p:spTree>
      <p:nvGrpSpPr>
        <p:cNvPr id="1" name=""/>
        <p:cNvGrpSpPr/>
        <p:nvPr/>
      </p:nvGrpSpPr>
      <p:grpSpPr>
        <a:xfrm>
          <a:off x="0" y="0"/>
          <a:ext cx="0" cy="0"/>
          <a:chOff x="0" y="0"/>
          <a:chExt cx="0" cy="0"/>
        </a:xfrm>
      </p:grpSpPr>
      <p:sp>
        <p:nvSpPr>
          <p:cNvPr id="7" name="red bar" descr="Red bar"/>
          <p:cNvSpPr/>
          <p:nvPr/>
        </p:nvSpPr>
        <p:spPr>
          <a:xfrm>
            <a:off x="1" y="1"/>
            <a:ext cx="12188824" cy="1524000"/>
          </a:xfrm>
          <a:prstGeom prst="rect">
            <a:avLst/>
          </a:prstGeom>
          <a:gradFill flip="none" rotWithShape="1">
            <a:gsLst>
              <a:gs pos="0">
                <a:schemeClr val="accent1"/>
              </a:gs>
              <a:gs pos="100000">
                <a:schemeClr val="accent1">
                  <a:lumMod val="7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Placeholder 1"/>
          <p:cNvSpPr>
            <a:spLocks noGrp="1"/>
          </p:cNvSpPr>
          <p:nvPr>
            <p:ph type="title"/>
          </p:nvPr>
        </p:nvSpPr>
        <p:spPr>
          <a:xfrm>
            <a:off x="1066800" y="99220"/>
            <a:ext cx="10058400" cy="1325563"/>
          </a:xfrm>
          <a:prstGeom prst="rect">
            <a:avLst/>
          </a:prstGeom>
        </p:spPr>
        <p:txBody>
          <a:bodyPr vert="horz" lIns="91440" tIns="45720" rIns="91440" bIns="45720" rtlCol="0" anchor="ctr">
            <a:normAutofit/>
          </a:bodyPr>
          <a:lstStyle/>
          <a:p>
            <a:r>
              <a:rPr lang="en-US" smtClean="0"/>
              <a:t>Click to edit Master title style</a:t>
            </a:r>
            <a:endParaRPr dirty="0"/>
          </a:p>
        </p:txBody>
      </p:sp>
      <p:sp>
        <p:nvSpPr>
          <p:cNvPr id="3" name="Text Placeholder 2"/>
          <p:cNvSpPr>
            <a:spLocks noGrp="1"/>
          </p:cNvSpPr>
          <p:nvPr>
            <p:ph type="body" idx="1"/>
          </p:nvPr>
        </p:nvSpPr>
        <p:spPr>
          <a:xfrm>
            <a:off x="1524000" y="1828799"/>
            <a:ext cx="9144000" cy="4572001"/>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5" name="Footer Placeholder 4"/>
          <p:cNvSpPr>
            <a:spLocks noGrp="1"/>
          </p:cNvSpPr>
          <p:nvPr>
            <p:ph type="ftr" sz="quarter" idx="3"/>
          </p:nvPr>
        </p:nvSpPr>
        <p:spPr>
          <a:xfrm>
            <a:off x="1066800" y="6481760"/>
            <a:ext cx="7848600" cy="239715"/>
          </a:xfrm>
          <a:prstGeom prst="rect">
            <a:avLst/>
          </a:prstGeom>
        </p:spPr>
        <p:txBody>
          <a:bodyPr vert="horz" lIns="91440" tIns="45720" rIns="91440" bIns="45720" rtlCol="0" anchor="ctr"/>
          <a:lstStyle>
            <a:lvl1pPr algn="l">
              <a:defRPr sz="1100">
                <a:solidFill>
                  <a:schemeClr val="tx1"/>
                </a:solidFill>
              </a:defRPr>
            </a:lvl1pPr>
          </a:lstStyle>
          <a:p>
            <a:endParaRPr lang="en-US" dirty="0"/>
          </a:p>
        </p:txBody>
      </p:sp>
      <p:sp>
        <p:nvSpPr>
          <p:cNvPr id="4" name="Date Placeholder 3"/>
          <p:cNvSpPr>
            <a:spLocks noGrp="1"/>
          </p:cNvSpPr>
          <p:nvPr>
            <p:ph type="dt" sz="half" idx="2"/>
          </p:nvPr>
        </p:nvSpPr>
        <p:spPr>
          <a:xfrm>
            <a:off x="9067800" y="6465885"/>
            <a:ext cx="1066800" cy="239715"/>
          </a:xfrm>
          <a:prstGeom prst="rect">
            <a:avLst/>
          </a:prstGeom>
        </p:spPr>
        <p:txBody>
          <a:bodyPr vert="horz" lIns="91440" tIns="45720" rIns="91440" bIns="45720" rtlCol="0" anchor="ctr"/>
          <a:lstStyle>
            <a:lvl1pPr algn="r">
              <a:defRPr sz="1100">
                <a:solidFill>
                  <a:schemeClr val="tx1"/>
                </a:solidFill>
              </a:defRPr>
            </a:lvl1pPr>
          </a:lstStyle>
          <a:p>
            <a:fld id="{32EC6CFA-BDEE-45D8-9F46-94F9BAC71770}" type="datetime1">
              <a:rPr lang="en-US" smtClean="0"/>
              <a:t>5/27/2026</a:t>
            </a:fld>
            <a:endParaRPr lang="en-US" dirty="0"/>
          </a:p>
        </p:txBody>
      </p:sp>
      <p:sp>
        <p:nvSpPr>
          <p:cNvPr id="6" name="Slide Number Placeholder 5"/>
          <p:cNvSpPr>
            <a:spLocks noGrp="1"/>
          </p:cNvSpPr>
          <p:nvPr>
            <p:ph type="sldNum" sz="quarter" idx="4"/>
          </p:nvPr>
        </p:nvSpPr>
        <p:spPr>
          <a:xfrm>
            <a:off x="10287000" y="6481760"/>
            <a:ext cx="838200" cy="239715"/>
          </a:xfrm>
          <a:prstGeom prst="rect">
            <a:avLst/>
          </a:prstGeom>
        </p:spPr>
        <p:txBody>
          <a:bodyPr vert="horz" lIns="91440" tIns="45720" rIns="91440" bIns="45720" rtlCol="0" anchor="ctr"/>
          <a:lstStyle>
            <a:lvl1pPr algn="r">
              <a:defRPr sz="1100">
                <a:solidFill>
                  <a:schemeClr val="tx1"/>
                </a:solidFill>
              </a:defRPr>
            </a:lvl1pPr>
          </a:lstStyle>
          <a:p>
            <a:fld id="{E31375A4-56A4-47D6-9801-1991572033F7}" type="slidenum">
              <a:rPr lang="en-US" smtClean="0"/>
              <a:pPr/>
              <a:t>‹#›</a:t>
            </a:fld>
            <a:endParaRPr lang="en-US"/>
          </a:p>
        </p:txBody>
      </p:sp>
    </p:spTree>
    <p:extLst>
      <p:ext uri="{BB962C8B-B14F-4D97-AF65-F5344CB8AC3E}">
        <p14:creationId xmlns:p14="http://schemas.microsoft.com/office/powerpoint/2010/main" val="19432598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90000"/>
        </a:lnSpc>
        <a:spcBef>
          <a:spcPct val="0"/>
        </a:spcBef>
        <a:buNone/>
        <a:defRPr sz="36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800"/>
        </a:spcBef>
        <a:buSzPct val="100000"/>
        <a:buFont typeface="Arial" pitchFamily="34" charset="0"/>
        <a:buChar char="▪"/>
        <a:defRPr sz="2400" kern="1200">
          <a:solidFill>
            <a:schemeClr val="tx1">
              <a:lumMod val="75000"/>
              <a:lumOff val="25000"/>
            </a:schemeClr>
          </a:solidFill>
          <a:latin typeface="+mn-lt"/>
          <a:ea typeface="+mn-ea"/>
          <a:cs typeface="+mn-cs"/>
        </a:defRPr>
      </a:lvl1pPr>
      <a:lvl2pPr marL="457200" indent="-228600" algn="l" defTabSz="914400" rtl="0" eaLnBrk="1" latinLnBrk="0" hangingPunct="1">
        <a:lnSpc>
          <a:spcPct val="90000"/>
        </a:lnSpc>
        <a:spcBef>
          <a:spcPts val="600"/>
        </a:spcBef>
        <a:buSzPct val="100000"/>
        <a:buFont typeface="Arial" pitchFamily="34" charset="0"/>
        <a:buChar char="▪"/>
        <a:defRPr sz="2200" kern="1200">
          <a:solidFill>
            <a:schemeClr val="tx1">
              <a:lumMod val="75000"/>
              <a:lumOff val="25000"/>
            </a:schemeClr>
          </a:solidFill>
          <a:latin typeface="+mn-lt"/>
          <a:ea typeface="+mn-ea"/>
          <a:cs typeface="+mn-cs"/>
        </a:defRPr>
      </a:lvl2pPr>
      <a:lvl3pPr marL="685800" indent="-182880" algn="l" defTabSz="914400" rtl="0" eaLnBrk="1" latinLnBrk="0" hangingPunct="1">
        <a:lnSpc>
          <a:spcPct val="90000"/>
        </a:lnSpc>
        <a:spcBef>
          <a:spcPts val="600"/>
        </a:spcBef>
        <a:buSzPct val="100000"/>
        <a:buFont typeface="Arial" pitchFamily="34" charset="0"/>
        <a:buChar char="▪"/>
        <a:defRPr sz="2000" kern="1200">
          <a:solidFill>
            <a:schemeClr val="tx1">
              <a:lumMod val="75000"/>
              <a:lumOff val="25000"/>
            </a:schemeClr>
          </a:solidFill>
          <a:latin typeface="+mn-lt"/>
          <a:ea typeface="+mn-ea"/>
          <a:cs typeface="+mn-cs"/>
        </a:defRPr>
      </a:lvl3pPr>
      <a:lvl4pPr marL="868680" indent="-182563" algn="l" defTabSz="914400" rtl="0" eaLnBrk="1" latinLnBrk="0" hangingPunct="1">
        <a:lnSpc>
          <a:spcPct val="90000"/>
        </a:lnSpc>
        <a:spcBef>
          <a:spcPts val="600"/>
        </a:spcBef>
        <a:buSzPct val="100000"/>
        <a:buFont typeface="Arial" pitchFamily="34" charset="0"/>
        <a:buChar char="▪"/>
        <a:defRPr sz="1800" kern="1200">
          <a:solidFill>
            <a:schemeClr val="tx1">
              <a:lumMod val="75000"/>
              <a:lumOff val="25000"/>
            </a:schemeClr>
          </a:solidFill>
          <a:latin typeface="+mn-lt"/>
          <a:ea typeface="+mn-ea"/>
          <a:cs typeface="+mn-cs"/>
        </a:defRPr>
      </a:lvl4pPr>
      <a:lvl5pPr marL="1051560" indent="-182880" algn="l" defTabSz="914400" rtl="0" eaLnBrk="1" latinLnBrk="0" hangingPunct="1">
        <a:lnSpc>
          <a:spcPct val="90000"/>
        </a:lnSpc>
        <a:spcBef>
          <a:spcPts val="600"/>
        </a:spcBef>
        <a:buSzPct val="100000"/>
        <a:buFont typeface="Arial" pitchFamily="34" charset="0"/>
        <a:buChar char="▪"/>
        <a:defRPr sz="1600" kern="1200">
          <a:solidFill>
            <a:schemeClr val="tx1">
              <a:lumMod val="75000"/>
              <a:lumOff val="25000"/>
            </a:schemeClr>
          </a:solidFill>
          <a:latin typeface="+mn-lt"/>
          <a:ea typeface="+mn-ea"/>
          <a:cs typeface="+mn-cs"/>
        </a:defRPr>
      </a:lvl5pPr>
      <a:lvl6pPr marL="123444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6pPr>
      <a:lvl7pPr marL="141732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7pPr>
      <a:lvl8pPr marL="160020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8pPr>
      <a:lvl9pPr marL="178308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26225" y="476672"/>
            <a:ext cx="4098175" cy="3177380"/>
          </a:xfrm>
        </p:spPr>
        <p:txBody>
          <a:bodyPr/>
          <a:lstStyle/>
          <a:p>
            <a:r>
              <a:rPr lang="en-US" dirty="0" smtClean="0"/>
              <a:t>Marketing &amp; Lead Funnel Data</a:t>
            </a:r>
            <a:endParaRPr lang="en-US" dirty="0"/>
          </a:p>
        </p:txBody>
      </p:sp>
      <p:sp>
        <p:nvSpPr>
          <p:cNvPr id="3" name="Subtitle 2"/>
          <p:cNvSpPr>
            <a:spLocks noGrp="1"/>
          </p:cNvSpPr>
          <p:nvPr>
            <p:ph type="subTitle" idx="1"/>
          </p:nvPr>
        </p:nvSpPr>
        <p:spPr/>
        <p:txBody>
          <a:bodyPr>
            <a:normAutofit fontScale="85000" lnSpcReduction="20000"/>
          </a:bodyPr>
          <a:lstStyle/>
          <a:p>
            <a:r>
              <a:rPr lang="en-US" dirty="0" smtClean="0"/>
              <a:t>By</a:t>
            </a:r>
          </a:p>
          <a:p>
            <a:r>
              <a:rPr lang="en-US" dirty="0" smtClean="0"/>
              <a:t>Gomolemo </a:t>
            </a:r>
            <a:r>
              <a:rPr lang="en-US" dirty="0" err="1" smtClean="0"/>
              <a:t>moabalobelo</a:t>
            </a:r>
            <a:endParaRPr lang="en-US" dirty="0"/>
          </a:p>
        </p:txBody>
      </p:sp>
    </p:spTree>
    <p:extLst>
      <p:ext uri="{BB962C8B-B14F-4D97-AF65-F5344CB8AC3E}">
        <p14:creationId xmlns:p14="http://schemas.microsoft.com/office/powerpoint/2010/main" val="435141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TABLE OF CONTENTS</a:t>
            </a:r>
            <a:endParaRPr lang="en-US" dirty="0"/>
          </a:p>
        </p:txBody>
      </p:sp>
      <p:sp>
        <p:nvSpPr>
          <p:cNvPr id="3" name="Content Placeholder 2"/>
          <p:cNvSpPr>
            <a:spLocks noGrp="1"/>
          </p:cNvSpPr>
          <p:nvPr>
            <p:ph idx="1"/>
          </p:nvPr>
        </p:nvSpPr>
        <p:spPr/>
        <p:txBody>
          <a:bodyPr>
            <a:normAutofit/>
          </a:bodyPr>
          <a:lstStyle/>
          <a:p>
            <a:r>
              <a:rPr lang="en-US" dirty="0" smtClean="0"/>
              <a:t>Introduction                                                                             3</a:t>
            </a:r>
          </a:p>
          <a:p>
            <a:r>
              <a:rPr lang="en-US" dirty="0" smtClean="0"/>
              <a:t>Monthly Conversion Rates		                                         4</a:t>
            </a:r>
          </a:p>
          <a:p>
            <a:r>
              <a:rPr lang="en-US" dirty="0" smtClean="0"/>
              <a:t>Monthly visitors and drop-off rates                                        5</a:t>
            </a:r>
          </a:p>
          <a:p>
            <a:r>
              <a:rPr lang="en-US" dirty="0" smtClean="0"/>
              <a:t>Performance of Referral Channels                                        6-7</a:t>
            </a:r>
          </a:p>
          <a:p>
            <a:r>
              <a:rPr lang="en-US" dirty="0" smtClean="0"/>
              <a:t>Recommendations                                                                  8</a:t>
            </a:r>
          </a:p>
          <a:p>
            <a:r>
              <a:rPr lang="en-US" dirty="0" smtClean="0"/>
              <a:t>Conclusion                                                                                9</a:t>
            </a:r>
            <a:endParaRPr lang="en-US" dirty="0"/>
          </a:p>
        </p:txBody>
      </p:sp>
      <p:sp>
        <p:nvSpPr>
          <p:cNvPr id="4" name="Slide Number Placeholder 3"/>
          <p:cNvSpPr>
            <a:spLocks noGrp="1"/>
          </p:cNvSpPr>
          <p:nvPr>
            <p:ph type="sldNum" sz="quarter" idx="12"/>
          </p:nvPr>
        </p:nvSpPr>
        <p:spPr/>
        <p:txBody>
          <a:bodyPr/>
          <a:lstStyle/>
          <a:p>
            <a:fld id="{E31375A4-56A4-47D6-9801-1991572033F7}" type="slidenum">
              <a:rPr lang="en-ZA" smtClean="0"/>
              <a:t>2</a:t>
            </a:fld>
            <a:endParaRPr lang="en-ZA"/>
          </a:p>
        </p:txBody>
      </p:sp>
    </p:spTree>
    <p:extLst>
      <p:ext uri="{BB962C8B-B14F-4D97-AF65-F5344CB8AC3E}">
        <p14:creationId xmlns:p14="http://schemas.microsoft.com/office/powerpoint/2010/main" val="1772969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US" dirty="0"/>
          </a:p>
        </p:txBody>
      </p:sp>
      <p:sp>
        <p:nvSpPr>
          <p:cNvPr id="3" name="Content Placeholder 2"/>
          <p:cNvSpPr>
            <a:spLocks noGrp="1"/>
          </p:cNvSpPr>
          <p:nvPr>
            <p:ph idx="1"/>
          </p:nvPr>
        </p:nvSpPr>
        <p:spPr/>
        <p:txBody>
          <a:bodyPr>
            <a:normAutofit fontScale="62500" lnSpcReduction="20000"/>
          </a:bodyPr>
          <a:lstStyle/>
          <a:p>
            <a:pPr marL="0" indent="0">
              <a:buNone/>
            </a:pPr>
            <a:r>
              <a:rPr lang="en-US" b="1" dirty="0"/>
              <a:t>Project Overview</a:t>
            </a:r>
          </a:p>
          <a:p>
            <a:r>
              <a:rPr lang="en-US" dirty="0"/>
              <a:t>This project focused on analyzing customer </a:t>
            </a:r>
            <a:r>
              <a:rPr lang="en-US" dirty="0" err="1"/>
              <a:t>behaviour</a:t>
            </a:r>
            <a:r>
              <a:rPr lang="en-US" dirty="0"/>
              <a:t> across the full marketing funnel, from visitors to leads and finally to converted customers. The goal was to understand how users interact with the business across different referral channels and how this </a:t>
            </a:r>
            <a:r>
              <a:rPr lang="en-US" dirty="0" err="1"/>
              <a:t>behaviour</a:t>
            </a:r>
            <a:r>
              <a:rPr lang="en-US" dirty="0"/>
              <a:t> changes over time</a:t>
            </a:r>
            <a:r>
              <a:rPr lang="en-US" dirty="0" smtClean="0"/>
              <a:t>.</a:t>
            </a:r>
          </a:p>
          <a:p>
            <a:endParaRPr lang="en-US" dirty="0"/>
          </a:p>
          <a:p>
            <a:pPr marL="0" indent="0">
              <a:buNone/>
            </a:pPr>
            <a:r>
              <a:rPr lang="en-US" b="1" dirty="0"/>
              <a:t>Analysis Performed</a:t>
            </a:r>
          </a:p>
          <a:p>
            <a:r>
              <a:rPr lang="en-US" dirty="0"/>
              <a:t>The analysis examined total visitors, lead generation, lead drop-off rates, and customer conversions. It also compared performance across different referral channels such as Google, Direct, Email, and Social Media, as well as monthly performance trends throughout the year</a:t>
            </a:r>
            <a:r>
              <a:rPr lang="en-US" dirty="0" smtClean="0"/>
              <a:t>.</a:t>
            </a:r>
          </a:p>
          <a:p>
            <a:endParaRPr lang="en-US" dirty="0"/>
          </a:p>
          <a:p>
            <a:pPr marL="0" indent="0">
              <a:buNone/>
            </a:pPr>
            <a:r>
              <a:rPr lang="en-US" b="1" dirty="0"/>
              <a:t>Key Focus of the Analysis</a:t>
            </a:r>
          </a:p>
          <a:p>
            <a:r>
              <a:rPr lang="en-US" dirty="0"/>
              <a:t>The main focus was to identify which channels and months perform best and worst in driving traffic, leads, and conversions. It also aimed to highlight weak points in the customer journey, especially where users drop off before becoming leads or customers. This helps the business understand where improvements are needed to increase overall performance and consistency.</a:t>
            </a:r>
          </a:p>
          <a:p>
            <a:endParaRPr lang="en-US" dirty="0"/>
          </a:p>
        </p:txBody>
      </p:sp>
      <p:sp>
        <p:nvSpPr>
          <p:cNvPr id="4" name="Slide Number Placeholder 3"/>
          <p:cNvSpPr>
            <a:spLocks noGrp="1"/>
          </p:cNvSpPr>
          <p:nvPr>
            <p:ph type="sldNum" sz="quarter" idx="12"/>
          </p:nvPr>
        </p:nvSpPr>
        <p:spPr/>
        <p:txBody>
          <a:bodyPr/>
          <a:lstStyle/>
          <a:p>
            <a:fld id="{E31375A4-56A4-47D6-9801-1991572033F7}" type="slidenum">
              <a:rPr lang="en-ZA" smtClean="0"/>
              <a:t>3</a:t>
            </a:fld>
            <a:endParaRPr lang="en-ZA"/>
          </a:p>
        </p:txBody>
      </p:sp>
    </p:spTree>
    <p:extLst>
      <p:ext uri="{BB962C8B-B14F-4D97-AF65-F5344CB8AC3E}">
        <p14:creationId xmlns:p14="http://schemas.microsoft.com/office/powerpoint/2010/main" val="39450948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Monthly Conversion Rates</a:t>
            </a:r>
            <a:endParaRPr lang="en-US" dirty="0"/>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9376" y="1644659"/>
            <a:ext cx="5328592" cy="3080485"/>
          </a:xfrm>
          <a:prstGeom prst="rect">
            <a:avLst/>
          </a:prstGeom>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40016" y="1682767"/>
            <a:ext cx="5616624" cy="3042377"/>
          </a:xfrm>
          <a:prstGeom prst="rect">
            <a:avLst/>
          </a:prstGeom>
        </p:spPr>
      </p:pic>
      <p:sp>
        <p:nvSpPr>
          <p:cNvPr id="11" name="TextBox 10"/>
          <p:cNvSpPr txBox="1"/>
          <p:nvPr/>
        </p:nvSpPr>
        <p:spPr>
          <a:xfrm>
            <a:off x="407368" y="4834735"/>
            <a:ext cx="5328592" cy="1938992"/>
          </a:xfrm>
          <a:prstGeom prst="rect">
            <a:avLst/>
          </a:prstGeom>
          <a:noFill/>
        </p:spPr>
        <p:txBody>
          <a:bodyPr wrap="square" rtlCol="0">
            <a:spAutoFit/>
          </a:bodyPr>
          <a:lstStyle/>
          <a:p>
            <a:r>
              <a:rPr lang="en-US" sz="1000" b="1" dirty="0">
                <a:latin typeface="Verdana" panose="020B0604030504040204" pitchFamily="34" charset="0"/>
                <a:ea typeface="Verdana" panose="020B0604030504040204" pitchFamily="34" charset="0"/>
                <a:cs typeface="Vijaya" panose="01010601010101010101" pitchFamily="2"/>
              </a:rPr>
              <a:t>Key Insights</a:t>
            </a:r>
          </a:p>
          <a:p>
            <a:r>
              <a:rPr lang="en-US" sz="1000" dirty="0">
                <a:latin typeface="Verdana" panose="020B0604030504040204" pitchFamily="34" charset="0"/>
                <a:ea typeface="Verdana" panose="020B0604030504040204" pitchFamily="34" charset="0"/>
                <a:cs typeface="Vijaya" panose="01010601010101010101" pitchFamily="2"/>
              </a:rPr>
              <a:t>The highest lead conversion rate was achieved in July (39.17%), followed by August (37.17%), indicating that the business performs strongest in converting leads during the mid-year period. </a:t>
            </a:r>
          </a:p>
          <a:p>
            <a:r>
              <a:rPr lang="en-US" sz="1000" dirty="0">
                <a:latin typeface="Verdana" panose="020B0604030504040204" pitchFamily="34" charset="0"/>
                <a:ea typeface="Verdana" panose="020B0604030504040204" pitchFamily="34" charset="0"/>
                <a:cs typeface="Vijaya" panose="01010601010101010101" pitchFamily="2"/>
              </a:rPr>
              <a:t>January recorded the lowest lead conversion rate at 4.5%, followed by February at 9%, highlighting a significant decline in customer conversion performance at the beginning of the year.</a:t>
            </a:r>
          </a:p>
          <a:p>
            <a:endParaRPr lang="en-US" sz="1000" dirty="0">
              <a:latin typeface="Verdana" panose="020B0604030504040204" pitchFamily="34" charset="0"/>
              <a:ea typeface="Verdana" panose="020B0604030504040204" pitchFamily="34" charset="0"/>
              <a:cs typeface="Vijaya" panose="01010601010101010101" pitchFamily="2"/>
            </a:endParaRPr>
          </a:p>
          <a:p>
            <a:r>
              <a:rPr lang="en-US" sz="1000" b="1" dirty="0">
                <a:latin typeface="Verdana" panose="020B0604030504040204" pitchFamily="34" charset="0"/>
                <a:ea typeface="Verdana" panose="020B0604030504040204" pitchFamily="34" charset="0"/>
              </a:rPr>
              <a:t>Business Insights</a:t>
            </a:r>
          </a:p>
          <a:p>
            <a:r>
              <a:rPr lang="en-US" sz="1000" dirty="0">
                <a:latin typeface="Verdana" panose="020B0604030504040204" pitchFamily="34" charset="0"/>
                <a:ea typeface="Verdana" panose="020B0604030504040204" pitchFamily="34" charset="0"/>
              </a:rPr>
              <a:t>The business should analyze the marketing campaigns, promotional activities, and customer engagement strategies implemented during July and August to identify successful practices that can be replicated in lower-performing months</a:t>
            </a:r>
            <a:endParaRPr lang="en-ZA" sz="1000" dirty="0"/>
          </a:p>
        </p:txBody>
      </p:sp>
      <p:sp>
        <p:nvSpPr>
          <p:cNvPr id="12" name="TextBox 11"/>
          <p:cNvSpPr txBox="1"/>
          <p:nvPr/>
        </p:nvSpPr>
        <p:spPr>
          <a:xfrm>
            <a:off x="6168008" y="4835479"/>
            <a:ext cx="5760640" cy="2092881"/>
          </a:xfrm>
          <a:prstGeom prst="rect">
            <a:avLst/>
          </a:prstGeom>
          <a:noFill/>
        </p:spPr>
        <p:txBody>
          <a:bodyPr wrap="square" rtlCol="0">
            <a:spAutoFit/>
          </a:bodyPr>
          <a:lstStyle/>
          <a:p>
            <a:r>
              <a:rPr lang="en-US" sz="1000" b="1" dirty="0">
                <a:latin typeface="Verdana" panose="020B0604030504040204" pitchFamily="34" charset="0"/>
                <a:ea typeface="Verdana" panose="020B0604030504040204" pitchFamily="34" charset="0"/>
              </a:rPr>
              <a:t>Key Insights</a:t>
            </a:r>
          </a:p>
          <a:p>
            <a:r>
              <a:rPr lang="en-US" sz="1000" dirty="0">
                <a:latin typeface="Verdana" panose="020B0604030504040204" pitchFamily="34" charset="0"/>
                <a:ea typeface="Verdana" panose="020B0604030504040204" pitchFamily="34" charset="0"/>
              </a:rPr>
              <a:t>Customer conversion performance was strongest in May (6%) and August (5.5%), while June and July recorded low conversion rates of 1%. No customer conversions were achieved in January, February, and March, indicating weak customer acquisition performance at the beginning of the year. </a:t>
            </a:r>
            <a:endParaRPr lang="en-US" sz="1000" dirty="0" smtClean="0">
              <a:latin typeface="Verdana" panose="020B0604030504040204" pitchFamily="34" charset="0"/>
              <a:ea typeface="Verdana" panose="020B0604030504040204" pitchFamily="34" charset="0"/>
            </a:endParaRPr>
          </a:p>
          <a:p>
            <a:endParaRPr lang="en-US" sz="1000" dirty="0">
              <a:latin typeface="Verdana" panose="020B0604030504040204" pitchFamily="34" charset="0"/>
              <a:ea typeface="Verdana" panose="020B0604030504040204" pitchFamily="34" charset="0"/>
            </a:endParaRPr>
          </a:p>
          <a:p>
            <a:r>
              <a:rPr lang="en-US" sz="1000" b="1" dirty="0">
                <a:latin typeface="Verdana" panose="020B0604030504040204" pitchFamily="34" charset="0"/>
                <a:ea typeface="Verdana" panose="020B0604030504040204" pitchFamily="34" charset="0"/>
              </a:rPr>
              <a:t>Business Insights</a:t>
            </a:r>
          </a:p>
          <a:p>
            <a:r>
              <a:rPr lang="en-US" sz="1000" dirty="0">
                <a:latin typeface="Verdana" panose="020B0604030504040204" pitchFamily="34" charset="0"/>
                <a:ea typeface="Verdana" panose="020B0604030504040204" pitchFamily="34" charset="0"/>
              </a:rPr>
              <a:t>The business should evaluate the successful strategies used in May and August and strengthen lead nurturing, marketing, and sales follow-up processes to improve customer conversions and achieve more consistent performance throughout the year. Additionally, the company should introduce targeted campaigns during low-performing periods to increase customer acquisition and stabilize conversion performance.</a:t>
            </a:r>
          </a:p>
          <a:p>
            <a:endParaRPr lang="en-US" sz="1000" dirty="0">
              <a:latin typeface="Verdana" panose="020B0604030504040204" pitchFamily="34" charset="0"/>
              <a:ea typeface="Verdana" panose="020B0604030504040204" pitchFamily="34" charset="0"/>
            </a:endParaRPr>
          </a:p>
        </p:txBody>
      </p:sp>
      <p:sp>
        <p:nvSpPr>
          <p:cNvPr id="13" name="Slide Number Placeholder 12"/>
          <p:cNvSpPr>
            <a:spLocks noGrp="1"/>
          </p:cNvSpPr>
          <p:nvPr>
            <p:ph type="sldNum" sz="quarter" idx="12"/>
          </p:nvPr>
        </p:nvSpPr>
        <p:spPr/>
        <p:txBody>
          <a:bodyPr/>
          <a:lstStyle/>
          <a:p>
            <a:fld id="{E31375A4-56A4-47D6-9801-1991572033F7}" type="slidenum">
              <a:rPr lang="en-ZA" smtClean="0"/>
              <a:t>4</a:t>
            </a:fld>
            <a:endParaRPr lang="en-ZA"/>
          </a:p>
        </p:txBody>
      </p:sp>
    </p:spTree>
    <p:extLst>
      <p:ext uri="{BB962C8B-B14F-4D97-AF65-F5344CB8AC3E}">
        <p14:creationId xmlns:p14="http://schemas.microsoft.com/office/powerpoint/2010/main" val="19286208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Monthly visitors and drop-off rate</a:t>
            </a:r>
            <a:endParaRPr lang="en-US" dirty="0"/>
          </a:p>
        </p:txBody>
      </p:sp>
      <p:pic>
        <p:nvPicPr>
          <p:cNvPr id="4" name="Picture 3"/>
          <p:cNvPicPr>
            <a:picLocks noChangeAspect="1"/>
          </p:cNvPicPr>
          <p:nvPr/>
        </p:nvPicPr>
        <p:blipFill>
          <a:blip r:embed="rId2"/>
          <a:stretch>
            <a:fillRect/>
          </a:stretch>
        </p:blipFill>
        <p:spPr>
          <a:xfrm>
            <a:off x="479376" y="1682767"/>
            <a:ext cx="5400599" cy="3186393"/>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12024" y="1610577"/>
            <a:ext cx="5544616" cy="3258583"/>
          </a:xfrm>
          <a:prstGeom prst="rect">
            <a:avLst/>
          </a:prstGeom>
        </p:spPr>
      </p:pic>
      <p:sp>
        <p:nvSpPr>
          <p:cNvPr id="6" name="TextBox 5"/>
          <p:cNvSpPr txBox="1"/>
          <p:nvPr/>
        </p:nvSpPr>
        <p:spPr>
          <a:xfrm>
            <a:off x="335360" y="4949026"/>
            <a:ext cx="5832648" cy="1785104"/>
          </a:xfrm>
          <a:prstGeom prst="rect">
            <a:avLst/>
          </a:prstGeom>
          <a:noFill/>
        </p:spPr>
        <p:txBody>
          <a:bodyPr wrap="square" rtlCol="0">
            <a:spAutoFit/>
          </a:bodyPr>
          <a:lstStyle/>
          <a:p>
            <a:r>
              <a:rPr lang="en-US" sz="1000" b="1" dirty="0">
                <a:latin typeface="Verdana" panose="020B0604030504040204" pitchFamily="34" charset="0"/>
                <a:ea typeface="Verdana" panose="020B0604030504040204" pitchFamily="34" charset="0"/>
              </a:rPr>
              <a:t>Key Insights</a:t>
            </a:r>
          </a:p>
          <a:p>
            <a:r>
              <a:rPr lang="en-US" sz="1000" dirty="0">
                <a:latin typeface="Verdana" panose="020B0604030504040204" pitchFamily="34" charset="0"/>
                <a:ea typeface="Verdana" panose="020B0604030504040204" pitchFamily="34" charset="0"/>
              </a:rPr>
              <a:t>August recorded the highest lead drop-off rate at 47.50%, followed by July at 45%, indicating that nearly half of the leads were lost during these months before converting further in the sales funnel. In contrast, January (5%) and February (9%) had the lowest drop-off rates, showing stronger lead retention at the beginning of the year. </a:t>
            </a:r>
            <a:endParaRPr lang="en-US" sz="1000" dirty="0" smtClean="0">
              <a:latin typeface="Verdana" panose="020B0604030504040204" pitchFamily="34" charset="0"/>
              <a:ea typeface="Verdana" panose="020B0604030504040204" pitchFamily="34" charset="0"/>
            </a:endParaRPr>
          </a:p>
          <a:p>
            <a:endParaRPr lang="en-US" sz="1000" b="1" dirty="0">
              <a:latin typeface="Verdana" panose="020B0604030504040204" pitchFamily="34" charset="0"/>
              <a:ea typeface="Verdana" panose="020B0604030504040204" pitchFamily="34" charset="0"/>
            </a:endParaRPr>
          </a:p>
          <a:p>
            <a:r>
              <a:rPr lang="en-US" sz="1000" b="1" dirty="0" smtClean="0">
                <a:latin typeface="Verdana" panose="020B0604030504040204" pitchFamily="34" charset="0"/>
                <a:ea typeface="Verdana" panose="020B0604030504040204" pitchFamily="34" charset="0"/>
              </a:rPr>
              <a:t>Business </a:t>
            </a:r>
            <a:r>
              <a:rPr lang="en-US" sz="1000" b="1" dirty="0">
                <a:latin typeface="Verdana" panose="020B0604030504040204" pitchFamily="34" charset="0"/>
                <a:ea typeface="Verdana" panose="020B0604030504040204" pitchFamily="34" charset="0"/>
              </a:rPr>
              <a:t>Insights</a:t>
            </a:r>
          </a:p>
          <a:p>
            <a:r>
              <a:rPr lang="en-US" sz="1000" dirty="0">
                <a:latin typeface="Verdana" panose="020B0604030504040204" pitchFamily="34" charset="0"/>
                <a:ea typeface="Verdana" panose="020B0604030504040204" pitchFamily="34" charset="0"/>
              </a:rPr>
              <a:t>The business should focus on improving lead nurturing and follow-up processes during high drop-off months such as July and August to reduce lost opportunities. Understanding customer </a:t>
            </a:r>
            <a:r>
              <a:rPr lang="en-US" sz="1000" dirty="0" err="1">
                <a:latin typeface="Verdana" panose="020B0604030504040204" pitchFamily="34" charset="0"/>
                <a:ea typeface="Verdana" panose="020B0604030504040204" pitchFamily="34" charset="0"/>
              </a:rPr>
              <a:t>behaviour</a:t>
            </a:r>
            <a:r>
              <a:rPr lang="en-US" sz="1000" dirty="0">
                <a:latin typeface="Verdana" panose="020B0604030504040204" pitchFamily="34" charset="0"/>
                <a:ea typeface="Verdana" panose="020B0604030504040204" pitchFamily="34" charset="0"/>
              </a:rPr>
              <a:t> and reviewing campaign effectiveness during these periods can help identify gaps in engagement. </a:t>
            </a:r>
            <a:endParaRPr lang="en-US" sz="1000" dirty="0">
              <a:latin typeface="Verdana" panose="020B0604030504040204" pitchFamily="34" charset="0"/>
              <a:ea typeface="Verdana" panose="020B0604030504040204" pitchFamily="34" charset="0"/>
              <a:cs typeface="Vijaya" panose="01010601010101010101" pitchFamily="2"/>
            </a:endParaRPr>
          </a:p>
        </p:txBody>
      </p:sp>
      <p:sp>
        <p:nvSpPr>
          <p:cNvPr id="7" name="TextBox 6"/>
          <p:cNvSpPr txBox="1"/>
          <p:nvPr/>
        </p:nvSpPr>
        <p:spPr>
          <a:xfrm flipH="1">
            <a:off x="6312024" y="4941169"/>
            <a:ext cx="5544616" cy="1938992"/>
          </a:xfrm>
          <a:prstGeom prst="rect">
            <a:avLst/>
          </a:prstGeom>
          <a:noFill/>
        </p:spPr>
        <p:txBody>
          <a:bodyPr wrap="square" rtlCol="0">
            <a:spAutoFit/>
          </a:bodyPr>
          <a:lstStyle/>
          <a:p>
            <a:r>
              <a:rPr lang="en-US" sz="1000" b="1" dirty="0">
                <a:latin typeface="Verdana" panose="020B0604030504040204" pitchFamily="34" charset="0"/>
                <a:ea typeface="Verdana" panose="020B0604030504040204" pitchFamily="34" charset="0"/>
              </a:rPr>
              <a:t>Key Insights</a:t>
            </a:r>
          </a:p>
          <a:p>
            <a:r>
              <a:rPr lang="en-US" sz="1000" dirty="0">
                <a:latin typeface="Verdana" panose="020B0604030504040204" pitchFamily="34" charset="0"/>
                <a:ea typeface="Verdana" panose="020B0604030504040204" pitchFamily="34" charset="0"/>
              </a:rPr>
              <a:t>August recorded the highest number of visitors at 563 (30.1</a:t>
            </a:r>
            <a:r>
              <a:rPr lang="en-US" sz="1000" dirty="0" smtClean="0">
                <a:latin typeface="Verdana" panose="020B0604030504040204" pitchFamily="34" charset="0"/>
                <a:ea typeface="Verdana" panose="020B0604030504040204" pitchFamily="34" charset="0"/>
              </a:rPr>
              <a:t>%), </a:t>
            </a:r>
            <a:r>
              <a:rPr lang="en-US" sz="1000" dirty="0">
                <a:latin typeface="Verdana" panose="020B0604030504040204" pitchFamily="34" charset="0"/>
                <a:ea typeface="Verdana" panose="020B0604030504040204" pitchFamily="34" charset="0"/>
              </a:rPr>
              <a:t>followed by July with 409 (21.8%), indicating that most traffic is concentrated in the mid-year period. In contrast, January had the lowest visitors at 65 (3.5%), followed by February at 81 (4.3%), showing very low engagement at the start of the year. </a:t>
            </a:r>
            <a:endParaRPr lang="en-US" sz="1000" dirty="0" smtClean="0">
              <a:latin typeface="Verdana" panose="020B0604030504040204" pitchFamily="34" charset="0"/>
              <a:ea typeface="Verdana" panose="020B0604030504040204" pitchFamily="34" charset="0"/>
            </a:endParaRPr>
          </a:p>
          <a:p>
            <a:endParaRPr lang="en-US" sz="1000" b="1" dirty="0">
              <a:latin typeface="Verdana" panose="020B0604030504040204" pitchFamily="34" charset="0"/>
              <a:ea typeface="Verdana" panose="020B0604030504040204" pitchFamily="34" charset="0"/>
            </a:endParaRPr>
          </a:p>
          <a:p>
            <a:r>
              <a:rPr lang="en-US" sz="1000" b="1" dirty="0" smtClean="0">
                <a:latin typeface="Verdana" panose="020B0604030504040204" pitchFamily="34" charset="0"/>
                <a:ea typeface="Verdana" panose="020B0604030504040204" pitchFamily="34" charset="0"/>
              </a:rPr>
              <a:t>Business </a:t>
            </a:r>
            <a:r>
              <a:rPr lang="en-US" sz="1000" b="1" dirty="0">
                <a:latin typeface="Verdana" panose="020B0604030504040204" pitchFamily="34" charset="0"/>
                <a:ea typeface="Verdana" panose="020B0604030504040204" pitchFamily="34" charset="0"/>
              </a:rPr>
              <a:t>Insights</a:t>
            </a:r>
          </a:p>
          <a:p>
            <a:r>
              <a:rPr lang="en-US" sz="1000" dirty="0">
                <a:latin typeface="Verdana" panose="020B0604030504040204" pitchFamily="34" charset="0"/>
                <a:ea typeface="Verdana" panose="020B0604030504040204" pitchFamily="34" charset="0"/>
              </a:rPr>
              <a:t>The business should replicate the marketing strategies and traffic-driving channels used in July and August to improve performance in lower-performing months. Increasing awareness campaigns during January and February can help balance traffic distribution throughout the year. Additionally, </a:t>
            </a:r>
            <a:r>
              <a:rPr lang="en-US" sz="1000" dirty="0" smtClean="0">
                <a:latin typeface="Verdana" panose="020B0604030504040204" pitchFamily="34" charset="0"/>
                <a:ea typeface="Verdana" panose="020B0604030504040204" pitchFamily="34" charset="0"/>
              </a:rPr>
              <a:t>optimizing </a:t>
            </a:r>
            <a:r>
              <a:rPr lang="en-US" sz="1000" dirty="0">
                <a:latin typeface="Verdana" panose="020B0604030504040204" pitchFamily="34" charset="0"/>
                <a:ea typeface="Verdana" panose="020B0604030504040204" pitchFamily="34" charset="0"/>
              </a:rPr>
              <a:t>conversion efforts during peak periods is critical to maximize revenue opportunities.</a:t>
            </a:r>
          </a:p>
        </p:txBody>
      </p:sp>
      <p:sp>
        <p:nvSpPr>
          <p:cNvPr id="10" name="Slide Number Placeholder 9"/>
          <p:cNvSpPr>
            <a:spLocks noGrp="1"/>
          </p:cNvSpPr>
          <p:nvPr>
            <p:ph type="sldNum" sz="quarter" idx="12"/>
          </p:nvPr>
        </p:nvSpPr>
        <p:spPr/>
        <p:txBody>
          <a:bodyPr/>
          <a:lstStyle/>
          <a:p>
            <a:fld id="{E31375A4-56A4-47D6-9801-1991572033F7}" type="slidenum">
              <a:rPr lang="en-ZA" smtClean="0"/>
              <a:t>5</a:t>
            </a:fld>
            <a:endParaRPr lang="en-ZA"/>
          </a:p>
        </p:txBody>
      </p:sp>
    </p:spTree>
    <p:extLst>
      <p:ext uri="{BB962C8B-B14F-4D97-AF65-F5344CB8AC3E}">
        <p14:creationId xmlns:p14="http://schemas.microsoft.com/office/powerpoint/2010/main" val="31134713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Performance of Referral Channels</a:t>
            </a:r>
            <a:endParaRPr lang="en-US" dirty="0"/>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7368" y="1626619"/>
            <a:ext cx="5688632" cy="3026517"/>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84032" y="1682767"/>
            <a:ext cx="5472608" cy="2970369"/>
          </a:xfrm>
          <a:prstGeom prst="rect">
            <a:avLst/>
          </a:prstGeom>
        </p:spPr>
      </p:pic>
      <p:sp>
        <p:nvSpPr>
          <p:cNvPr id="7" name="TextBox 6"/>
          <p:cNvSpPr txBox="1"/>
          <p:nvPr/>
        </p:nvSpPr>
        <p:spPr>
          <a:xfrm flipH="1">
            <a:off x="335360" y="4765119"/>
            <a:ext cx="5760640" cy="2092881"/>
          </a:xfrm>
          <a:prstGeom prst="rect">
            <a:avLst/>
          </a:prstGeom>
          <a:noFill/>
        </p:spPr>
        <p:txBody>
          <a:bodyPr wrap="square" rtlCol="0">
            <a:spAutoFit/>
          </a:bodyPr>
          <a:lstStyle/>
          <a:p>
            <a:r>
              <a:rPr lang="en-US" sz="1000" b="1" dirty="0">
                <a:latin typeface="Verdana" panose="020B0604030504040204" pitchFamily="34" charset="0"/>
                <a:ea typeface="Verdana" panose="020B0604030504040204" pitchFamily="34" charset="0"/>
              </a:rPr>
              <a:t>Key Insights</a:t>
            </a:r>
          </a:p>
          <a:p>
            <a:r>
              <a:rPr lang="en-US" sz="1000" dirty="0">
                <a:latin typeface="Verdana" panose="020B0604030504040204" pitchFamily="34" charset="0"/>
                <a:ea typeface="Verdana" panose="020B0604030504040204" pitchFamily="34" charset="0"/>
              </a:rPr>
              <a:t>Google generated the highest referred users (482), while Social Media had the lowest (442), showing relatively close performance with Google slightly stronger. </a:t>
            </a:r>
          </a:p>
          <a:p>
            <a:r>
              <a:rPr lang="en-US" sz="1000" dirty="0">
                <a:latin typeface="Verdana" panose="020B0604030504040204" pitchFamily="34" charset="0"/>
                <a:ea typeface="Verdana" panose="020B0604030504040204" pitchFamily="34" charset="0"/>
              </a:rPr>
              <a:t>August recorded the highest referrals (563), while January had the lowest (65), with Direct being strongest in August (159) and Email the weakest in January (12). </a:t>
            </a:r>
            <a:endParaRPr lang="en-US" sz="1000" dirty="0" smtClean="0">
              <a:latin typeface="Verdana" panose="020B0604030504040204" pitchFamily="34" charset="0"/>
              <a:ea typeface="Verdana" panose="020B0604030504040204" pitchFamily="34" charset="0"/>
            </a:endParaRPr>
          </a:p>
          <a:p>
            <a:endParaRPr lang="en-US" sz="1000" dirty="0">
              <a:latin typeface="Verdana" panose="020B0604030504040204" pitchFamily="34" charset="0"/>
              <a:ea typeface="Verdana" panose="020B0604030504040204" pitchFamily="34" charset="0"/>
            </a:endParaRPr>
          </a:p>
          <a:p>
            <a:r>
              <a:rPr lang="en-US" sz="1000" b="1" dirty="0">
                <a:latin typeface="Verdana" panose="020B0604030504040204" pitchFamily="34" charset="0"/>
                <a:ea typeface="Verdana" panose="020B0604030504040204" pitchFamily="34" charset="0"/>
              </a:rPr>
              <a:t>Business Insights</a:t>
            </a:r>
          </a:p>
          <a:p>
            <a:r>
              <a:rPr lang="en-US" sz="1000" dirty="0">
                <a:latin typeface="Verdana" panose="020B0604030504040204" pitchFamily="34" charset="0"/>
                <a:ea typeface="Verdana" panose="020B0604030504040204" pitchFamily="34" charset="0"/>
              </a:rPr>
              <a:t>The business should focus on optimizing high-performing channels like Google and Direct to maximize user acquisition, especially during peak months such as August. </a:t>
            </a:r>
          </a:p>
          <a:p>
            <a:r>
              <a:rPr lang="en-US" sz="1000" dirty="0">
                <a:latin typeface="Verdana" panose="020B0604030504040204" pitchFamily="34" charset="0"/>
                <a:ea typeface="Verdana" panose="020B0604030504040204" pitchFamily="34" charset="0"/>
              </a:rPr>
              <a:t>Social Media and Email need improved targeting and engagement strategies, while insights from August’s strong performance should be replicated in weaker months like January.</a:t>
            </a:r>
          </a:p>
          <a:p>
            <a:endParaRPr lang="en-US" sz="1000" dirty="0">
              <a:latin typeface="Verdana" panose="020B0604030504040204" pitchFamily="34" charset="0"/>
              <a:ea typeface="Verdana" panose="020B0604030504040204" pitchFamily="34" charset="0"/>
              <a:cs typeface="Vijaya" panose="01010601010101010101" pitchFamily="2"/>
            </a:endParaRPr>
          </a:p>
        </p:txBody>
      </p:sp>
      <p:sp>
        <p:nvSpPr>
          <p:cNvPr id="8" name="TextBox 7"/>
          <p:cNvSpPr txBox="1"/>
          <p:nvPr/>
        </p:nvSpPr>
        <p:spPr>
          <a:xfrm>
            <a:off x="6312024" y="4765501"/>
            <a:ext cx="5616624" cy="2092881"/>
          </a:xfrm>
          <a:prstGeom prst="rect">
            <a:avLst/>
          </a:prstGeom>
          <a:noFill/>
        </p:spPr>
        <p:txBody>
          <a:bodyPr wrap="square" rtlCol="0">
            <a:spAutoFit/>
          </a:bodyPr>
          <a:lstStyle/>
          <a:p>
            <a:r>
              <a:rPr lang="en-US" sz="1000" b="1" dirty="0">
                <a:latin typeface="Verdana" panose="020B0604030504040204" pitchFamily="34" charset="0"/>
                <a:ea typeface="Verdana" panose="020B0604030504040204" pitchFamily="34" charset="0"/>
              </a:rPr>
              <a:t>Key Insights</a:t>
            </a:r>
          </a:p>
          <a:p>
            <a:r>
              <a:rPr lang="en-US" sz="1000" dirty="0">
                <a:latin typeface="Verdana" panose="020B0604030504040204" pitchFamily="34" charset="0"/>
                <a:ea typeface="Verdana" panose="020B0604030504040204" pitchFamily="34" charset="0"/>
              </a:rPr>
              <a:t>Google generated the highest number of users who became leads (61), while Direct had the lowest </a:t>
            </a:r>
            <a:r>
              <a:rPr lang="en-US" sz="1000" dirty="0" smtClean="0">
                <a:latin typeface="Verdana" panose="020B0604030504040204" pitchFamily="34" charset="0"/>
                <a:ea typeface="Verdana" panose="020B0604030504040204" pitchFamily="34" charset="0"/>
              </a:rPr>
              <a:t>(49). August </a:t>
            </a:r>
            <a:r>
              <a:rPr lang="en-US" sz="1000" dirty="0">
                <a:latin typeface="Verdana" panose="020B0604030504040204" pitchFamily="34" charset="0"/>
                <a:ea typeface="Verdana" panose="020B0604030504040204" pitchFamily="34" charset="0"/>
              </a:rPr>
              <a:t>recorded the highest number of leads (54), while January had the lowest (</a:t>
            </a:r>
            <a:r>
              <a:rPr lang="en-US" sz="1000" dirty="0" smtClean="0">
                <a:latin typeface="Verdana" panose="020B0604030504040204" pitchFamily="34" charset="0"/>
                <a:ea typeface="Verdana" panose="020B0604030504040204" pitchFamily="34" charset="0"/>
              </a:rPr>
              <a:t>5. In </a:t>
            </a:r>
            <a:r>
              <a:rPr lang="en-US" sz="1000" dirty="0">
                <a:latin typeface="Verdana" panose="020B0604030504040204" pitchFamily="34" charset="0"/>
                <a:ea typeface="Verdana" panose="020B0604030504040204" pitchFamily="34" charset="0"/>
              </a:rPr>
              <a:t>August, Email was the strongest contributor with 61 leads, while Social Media </a:t>
            </a:r>
            <a:r>
              <a:rPr lang="en-US" sz="1000" dirty="0" smtClean="0">
                <a:latin typeface="Verdana" panose="020B0604030504040204" pitchFamily="34" charset="0"/>
                <a:ea typeface="Verdana" panose="020B0604030504040204" pitchFamily="34" charset="0"/>
              </a:rPr>
              <a:t>being </a:t>
            </a:r>
            <a:r>
              <a:rPr lang="en-US" sz="1000" dirty="0">
                <a:latin typeface="Verdana" panose="020B0604030504040204" pitchFamily="34" charset="0"/>
                <a:ea typeface="Verdana" panose="020B0604030504040204" pitchFamily="34" charset="0"/>
              </a:rPr>
              <a:t>the least with 12 </a:t>
            </a:r>
            <a:r>
              <a:rPr lang="en-US" sz="1000" dirty="0" smtClean="0">
                <a:latin typeface="Verdana" panose="020B0604030504040204" pitchFamily="34" charset="0"/>
                <a:ea typeface="Verdana" panose="020B0604030504040204" pitchFamily="34" charset="0"/>
              </a:rPr>
              <a:t>leads.</a:t>
            </a:r>
          </a:p>
          <a:p>
            <a:endParaRPr lang="en-US" sz="1000" dirty="0">
              <a:latin typeface="Verdana" panose="020B0604030504040204" pitchFamily="34" charset="0"/>
              <a:ea typeface="Verdana" panose="020B0604030504040204" pitchFamily="34" charset="0"/>
            </a:endParaRPr>
          </a:p>
          <a:p>
            <a:r>
              <a:rPr lang="en-US" sz="1000" b="1" dirty="0">
                <a:latin typeface="Verdana" panose="020B0604030504040204" pitchFamily="34" charset="0"/>
                <a:ea typeface="Verdana" panose="020B0604030504040204" pitchFamily="34" charset="0"/>
              </a:rPr>
              <a:t>Business Insights</a:t>
            </a:r>
          </a:p>
          <a:p>
            <a:r>
              <a:rPr lang="en-US" sz="1000" dirty="0">
                <a:latin typeface="Verdana" panose="020B0604030504040204" pitchFamily="34" charset="0"/>
                <a:ea typeface="Verdana" panose="020B0604030504040204" pitchFamily="34" charset="0"/>
              </a:rPr>
              <a:t>The business should prioritize optimizing high-performing channels like Google and Email to maximize lead generation and improve conversion efficiency. </a:t>
            </a:r>
          </a:p>
          <a:p>
            <a:r>
              <a:rPr lang="en-US" sz="1000" dirty="0">
                <a:latin typeface="Verdana" panose="020B0604030504040204" pitchFamily="34" charset="0"/>
                <a:ea typeface="Verdana" panose="020B0604030504040204" pitchFamily="34" charset="0"/>
              </a:rPr>
              <a:t>Social Media and Direct channels require improved targeting, engagement, and campaign strategies to increase their contribution to leads. </a:t>
            </a:r>
          </a:p>
          <a:p>
            <a:r>
              <a:rPr lang="en-US" sz="1000" dirty="0">
                <a:latin typeface="Verdana" panose="020B0604030504040204" pitchFamily="34" charset="0"/>
                <a:ea typeface="Verdana" panose="020B0604030504040204" pitchFamily="34" charset="0"/>
              </a:rPr>
              <a:t>The strong performance in August should be analyzed and replicated across other months, especially January, to stabilize and improve overall lead generation. </a:t>
            </a:r>
          </a:p>
        </p:txBody>
      </p:sp>
      <p:sp>
        <p:nvSpPr>
          <p:cNvPr id="9" name="Slide Number Placeholder 8"/>
          <p:cNvSpPr>
            <a:spLocks noGrp="1"/>
          </p:cNvSpPr>
          <p:nvPr>
            <p:ph type="sldNum" sz="quarter" idx="12"/>
          </p:nvPr>
        </p:nvSpPr>
        <p:spPr/>
        <p:txBody>
          <a:bodyPr/>
          <a:lstStyle/>
          <a:p>
            <a:fld id="{E31375A4-56A4-47D6-9801-1991572033F7}" type="slidenum">
              <a:rPr lang="en-ZA" smtClean="0"/>
              <a:t>6</a:t>
            </a:fld>
            <a:endParaRPr lang="en-ZA"/>
          </a:p>
        </p:txBody>
      </p:sp>
    </p:spTree>
    <p:extLst>
      <p:ext uri="{BB962C8B-B14F-4D97-AF65-F5344CB8AC3E}">
        <p14:creationId xmlns:p14="http://schemas.microsoft.com/office/powerpoint/2010/main" val="9750388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Performance of Referral Channels</a:t>
            </a:r>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9376" y="1650683"/>
            <a:ext cx="5544616" cy="3146469"/>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84032" y="1666905"/>
            <a:ext cx="5535797" cy="3130247"/>
          </a:xfrm>
          <a:prstGeom prst="rect">
            <a:avLst/>
          </a:prstGeom>
        </p:spPr>
      </p:pic>
      <p:sp>
        <p:nvSpPr>
          <p:cNvPr id="7" name="TextBox 6"/>
          <p:cNvSpPr txBox="1"/>
          <p:nvPr/>
        </p:nvSpPr>
        <p:spPr>
          <a:xfrm>
            <a:off x="359205" y="4797152"/>
            <a:ext cx="5688632" cy="2369880"/>
          </a:xfrm>
          <a:prstGeom prst="rect">
            <a:avLst/>
          </a:prstGeom>
          <a:noFill/>
        </p:spPr>
        <p:txBody>
          <a:bodyPr wrap="square" rtlCol="0">
            <a:spAutoFit/>
          </a:bodyPr>
          <a:lstStyle/>
          <a:p>
            <a:r>
              <a:rPr lang="en-US" sz="1000" b="1" dirty="0">
                <a:latin typeface="Verdana" panose="020B0604030504040204" pitchFamily="34" charset="0"/>
                <a:ea typeface="Verdana" panose="020B0604030504040204" pitchFamily="34" charset="0"/>
              </a:rPr>
              <a:t>Key Insights</a:t>
            </a:r>
          </a:p>
          <a:p>
            <a:r>
              <a:rPr lang="en-US" sz="1000" dirty="0">
                <a:latin typeface="Verdana" panose="020B0604030504040204" pitchFamily="34" charset="0"/>
                <a:ea typeface="Verdana" panose="020B0604030504040204" pitchFamily="34" charset="0"/>
              </a:rPr>
              <a:t>Google generated the highest number of converted customers (109), while Email had the lowest (89</a:t>
            </a:r>
            <a:r>
              <a:rPr lang="en-US" sz="1000" dirty="0" smtClean="0">
                <a:latin typeface="Verdana" panose="020B0604030504040204" pitchFamily="34" charset="0"/>
                <a:ea typeface="Verdana" panose="020B0604030504040204" pitchFamily="34" charset="0"/>
              </a:rPr>
              <a:t>),.August </a:t>
            </a:r>
            <a:r>
              <a:rPr lang="en-US" sz="1000" dirty="0">
                <a:latin typeface="Verdana" panose="020B0604030504040204" pitchFamily="34" charset="0"/>
                <a:ea typeface="Verdana" panose="020B0604030504040204" pitchFamily="34" charset="0"/>
              </a:rPr>
              <a:t>recorded the highest number of converted customers (115), while January had the lowest (</a:t>
            </a:r>
            <a:r>
              <a:rPr lang="en-US" sz="1000" dirty="0" smtClean="0">
                <a:latin typeface="Verdana" panose="020B0604030504040204" pitchFamily="34" charset="0"/>
                <a:ea typeface="Verdana" panose="020B0604030504040204" pitchFamily="34" charset="0"/>
              </a:rPr>
              <a:t>11).In </a:t>
            </a:r>
            <a:r>
              <a:rPr lang="en-US" sz="1000" dirty="0">
                <a:latin typeface="Verdana" panose="020B0604030504040204" pitchFamily="34" charset="0"/>
                <a:ea typeface="Verdana" panose="020B0604030504040204" pitchFamily="34" charset="0"/>
              </a:rPr>
              <a:t>August, Google contributed the most conversions (33), while Social Media contributed the least (24</a:t>
            </a:r>
            <a:r>
              <a:rPr lang="en-US" sz="1000" dirty="0" smtClean="0">
                <a:latin typeface="Verdana" panose="020B0604030504040204" pitchFamily="34" charset="0"/>
                <a:ea typeface="Verdana" panose="020B0604030504040204" pitchFamily="34" charset="0"/>
              </a:rPr>
              <a:t>)</a:t>
            </a:r>
          </a:p>
          <a:p>
            <a:endParaRPr lang="en-US" sz="1000" dirty="0">
              <a:latin typeface="Verdana" panose="020B0604030504040204" pitchFamily="34" charset="0"/>
              <a:ea typeface="Verdana" panose="020B0604030504040204" pitchFamily="34" charset="0"/>
            </a:endParaRPr>
          </a:p>
          <a:p>
            <a:r>
              <a:rPr lang="en-US" sz="1000" b="1" dirty="0">
                <a:latin typeface="Verdana" panose="020B0604030504040204" pitchFamily="34" charset="0"/>
                <a:ea typeface="Verdana" panose="020B0604030504040204" pitchFamily="34" charset="0"/>
              </a:rPr>
              <a:t>Business Insights</a:t>
            </a:r>
          </a:p>
          <a:p>
            <a:r>
              <a:rPr lang="en-US" sz="1000" dirty="0">
                <a:latin typeface="Verdana" panose="020B0604030504040204" pitchFamily="34" charset="0"/>
                <a:ea typeface="Verdana" panose="020B0604030504040204" pitchFamily="34" charset="0"/>
              </a:rPr>
              <a:t>The business should prioritize strengthening high-performing channels like Google to maximize customer conversions and overall revenue. </a:t>
            </a:r>
            <a:r>
              <a:rPr lang="en-US" sz="1000" dirty="0" smtClean="0">
                <a:latin typeface="Verdana" panose="020B0604030504040204" pitchFamily="34" charset="0"/>
                <a:ea typeface="Verdana" panose="020B0604030504040204" pitchFamily="34" charset="0"/>
              </a:rPr>
              <a:t>Email </a:t>
            </a:r>
            <a:r>
              <a:rPr lang="en-US" sz="1000" dirty="0">
                <a:latin typeface="Verdana" panose="020B0604030504040204" pitchFamily="34" charset="0"/>
                <a:ea typeface="Verdana" panose="020B0604030504040204" pitchFamily="34" charset="0"/>
              </a:rPr>
              <a:t>and Social Media require improved targeting, engagement, and nurturing strategies to increase their conversion contribution. </a:t>
            </a:r>
            <a:r>
              <a:rPr lang="en-US" sz="1000" dirty="0" smtClean="0">
                <a:latin typeface="Verdana" panose="020B0604030504040204" pitchFamily="34" charset="0"/>
                <a:ea typeface="Verdana" panose="020B0604030504040204" pitchFamily="34" charset="0"/>
              </a:rPr>
              <a:t>The </a:t>
            </a:r>
            <a:r>
              <a:rPr lang="en-US" sz="1000" dirty="0">
                <a:latin typeface="Verdana" panose="020B0604030504040204" pitchFamily="34" charset="0"/>
                <a:ea typeface="Verdana" panose="020B0604030504040204" pitchFamily="34" charset="0"/>
              </a:rPr>
              <a:t>strong conversion performance in August should be analyzed and replicated in lower-performing months like January to improve consistency in customer acquisition. </a:t>
            </a:r>
          </a:p>
          <a:p>
            <a:endParaRPr lang="en-ZA" dirty="0"/>
          </a:p>
        </p:txBody>
      </p:sp>
      <p:sp>
        <p:nvSpPr>
          <p:cNvPr id="8" name="TextBox 7"/>
          <p:cNvSpPr txBox="1"/>
          <p:nvPr/>
        </p:nvSpPr>
        <p:spPr>
          <a:xfrm>
            <a:off x="6307614" y="4781763"/>
            <a:ext cx="5688632" cy="2092881"/>
          </a:xfrm>
          <a:prstGeom prst="rect">
            <a:avLst/>
          </a:prstGeom>
          <a:noFill/>
        </p:spPr>
        <p:txBody>
          <a:bodyPr wrap="square" rtlCol="0">
            <a:spAutoFit/>
          </a:bodyPr>
          <a:lstStyle/>
          <a:p>
            <a:r>
              <a:rPr lang="en-US" sz="1000" b="1" dirty="0">
                <a:latin typeface="Verdana" panose="020B0604030504040204" pitchFamily="34" charset="0"/>
                <a:ea typeface="Verdana" panose="020B0604030504040204" pitchFamily="34" charset="0"/>
              </a:rPr>
              <a:t>Key Insights</a:t>
            </a:r>
          </a:p>
          <a:p>
            <a:r>
              <a:rPr lang="en-US" sz="1000" dirty="0">
                <a:latin typeface="Verdana" panose="020B0604030504040204" pitchFamily="34" charset="0"/>
                <a:ea typeface="Verdana" panose="020B0604030504040204" pitchFamily="34" charset="0"/>
              </a:rPr>
              <a:t>Google generated the highest number of total visitors (482), closely followed by Direct (476) and Email (</a:t>
            </a:r>
            <a:r>
              <a:rPr lang="en-US" sz="1000" dirty="0" smtClean="0">
                <a:latin typeface="Verdana" panose="020B0604030504040204" pitchFamily="34" charset="0"/>
                <a:ea typeface="Verdana" panose="020B0604030504040204" pitchFamily="34" charset="0"/>
              </a:rPr>
              <a:t>472.Social </a:t>
            </a:r>
            <a:r>
              <a:rPr lang="en-US" sz="1000" dirty="0">
                <a:latin typeface="Verdana" panose="020B0604030504040204" pitchFamily="34" charset="0"/>
                <a:ea typeface="Verdana" panose="020B0604030504040204" pitchFamily="34" charset="0"/>
              </a:rPr>
              <a:t>Media recorded the lowest number of visitors (442), indicating slightly weaker traffic generation compared to other referral sources. </a:t>
            </a:r>
            <a:endParaRPr lang="en-US" sz="1000" dirty="0" smtClean="0">
              <a:latin typeface="Verdana" panose="020B0604030504040204" pitchFamily="34" charset="0"/>
              <a:ea typeface="Verdana" panose="020B0604030504040204" pitchFamily="34" charset="0"/>
            </a:endParaRPr>
          </a:p>
          <a:p>
            <a:endParaRPr lang="en-US" sz="1000" dirty="0">
              <a:latin typeface="Verdana" panose="020B0604030504040204" pitchFamily="34" charset="0"/>
              <a:ea typeface="Verdana" panose="020B0604030504040204" pitchFamily="34" charset="0"/>
            </a:endParaRPr>
          </a:p>
          <a:p>
            <a:r>
              <a:rPr lang="en-US" sz="1000" b="1" dirty="0" smtClean="0">
                <a:latin typeface="Verdana" panose="020B0604030504040204" pitchFamily="34" charset="0"/>
                <a:ea typeface="Verdana" panose="020B0604030504040204" pitchFamily="34" charset="0"/>
              </a:rPr>
              <a:t>Business </a:t>
            </a:r>
            <a:r>
              <a:rPr lang="en-US" sz="1000" b="1" dirty="0">
                <a:latin typeface="Verdana" panose="020B0604030504040204" pitchFamily="34" charset="0"/>
                <a:ea typeface="Verdana" panose="020B0604030504040204" pitchFamily="34" charset="0"/>
              </a:rPr>
              <a:t>Insights</a:t>
            </a:r>
          </a:p>
          <a:p>
            <a:r>
              <a:rPr lang="en-US" sz="1000" dirty="0">
                <a:latin typeface="Verdana" panose="020B0604030504040204" pitchFamily="34" charset="0"/>
                <a:ea typeface="Verdana" panose="020B0604030504040204" pitchFamily="34" charset="0"/>
              </a:rPr>
              <a:t>The business should focus on strengthening Social Media performance to close the gap with other channels and improve overall traffic balance. </a:t>
            </a:r>
          </a:p>
          <a:p>
            <a:r>
              <a:rPr lang="en-US" sz="1000" dirty="0">
                <a:latin typeface="Verdana" panose="020B0604030504040204" pitchFamily="34" charset="0"/>
                <a:ea typeface="Verdana" panose="020B0604030504040204" pitchFamily="34" charset="0"/>
              </a:rPr>
              <a:t>Since Google, Direct, and Email perform closely, efforts should be made to optimize all three equally to maximize consistent visitor inflow. </a:t>
            </a:r>
          </a:p>
          <a:p>
            <a:r>
              <a:rPr lang="en-US" sz="1000" dirty="0">
                <a:latin typeface="Verdana" panose="020B0604030504040204" pitchFamily="34" charset="0"/>
                <a:ea typeface="Verdana" panose="020B0604030504040204" pitchFamily="34" charset="0"/>
              </a:rPr>
              <a:t>A balanced multi-channel strategy should be maintained while improving weaker channels to increase total website traffic and engagement.</a:t>
            </a:r>
          </a:p>
        </p:txBody>
      </p:sp>
      <p:sp>
        <p:nvSpPr>
          <p:cNvPr id="9" name="Slide Number Placeholder 8"/>
          <p:cNvSpPr>
            <a:spLocks noGrp="1"/>
          </p:cNvSpPr>
          <p:nvPr>
            <p:ph type="sldNum" sz="quarter" idx="12"/>
          </p:nvPr>
        </p:nvSpPr>
        <p:spPr/>
        <p:txBody>
          <a:bodyPr/>
          <a:lstStyle/>
          <a:p>
            <a:fld id="{E31375A4-56A4-47D6-9801-1991572033F7}" type="slidenum">
              <a:rPr lang="en-ZA" smtClean="0"/>
              <a:t>7</a:t>
            </a:fld>
            <a:endParaRPr lang="en-ZA"/>
          </a:p>
        </p:txBody>
      </p:sp>
    </p:spTree>
    <p:extLst>
      <p:ext uri="{BB962C8B-B14F-4D97-AF65-F5344CB8AC3E}">
        <p14:creationId xmlns:p14="http://schemas.microsoft.com/office/powerpoint/2010/main" val="3992071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RECOMMENDATIONS</a:t>
            </a:r>
            <a:endParaRPr lang="en-US" dirty="0"/>
          </a:p>
        </p:txBody>
      </p:sp>
      <p:sp>
        <p:nvSpPr>
          <p:cNvPr id="3" name="Content Placeholder 2"/>
          <p:cNvSpPr>
            <a:spLocks noGrp="1"/>
          </p:cNvSpPr>
          <p:nvPr>
            <p:ph sz="half" idx="1"/>
          </p:nvPr>
        </p:nvSpPr>
        <p:spPr>
          <a:xfrm>
            <a:off x="1066800" y="1825624"/>
            <a:ext cx="9637712" cy="4575175"/>
          </a:xfrm>
        </p:spPr>
        <p:txBody>
          <a:bodyPr>
            <a:normAutofit fontScale="85000" lnSpcReduction="20000"/>
          </a:bodyPr>
          <a:lstStyle/>
          <a:p>
            <a:pPr marL="0" indent="0">
              <a:buNone/>
            </a:pPr>
            <a:endParaRPr lang="en-US" dirty="0"/>
          </a:p>
          <a:p>
            <a:r>
              <a:rPr lang="en-US" dirty="0" smtClean="0"/>
              <a:t>The </a:t>
            </a:r>
            <a:r>
              <a:rPr lang="en-US" dirty="0"/>
              <a:t>business should focus more on Google, Direct, and Email because they bring in the most visitors, leads, and customers. Improving ads, SEO, and email campaigns can help increase results even more. </a:t>
            </a:r>
          </a:p>
          <a:p>
            <a:r>
              <a:rPr lang="en-US" dirty="0"/>
              <a:t>Social Media is not performing well compared to other channels. The business should improve its content, targeting, and engagement to attract more users and turn them into leads and customers. </a:t>
            </a:r>
          </a:p>
          <a:p>
            <a:r>
              <a:rPr lang="en-US" dirty="0"/>
              <a:t>The business should study what worked well in July and August and use the same strategies in weaker months like January and February to improve performance throughout the year. </a:t>
            </a:r>
          </a:p>
          <a:p>
            <a:r>
              <a:rPr lang="en-US" dirty="0"/>
              <a:t>Lead follow-ups should be improved so fewer potential customers are lost, especially in months where drop-off is high. </a:t>
            </a:r>
          </a:p>
          <a:p>
            <a:r>
              <a:rPr lang="en-US" dirty="0"/>
              <a:t>The business should plan marketing spending better by investing more during high-performing months but also working to improve low-performing months.</a:t>
            </a:r>
          </a:p>
          <a:p>
            <a:endParaRPr lang="en-US" dirty="0"/>
          </a:p>
        </p:txBody>
      </p:sp>
      <p:sp>
        <p:nvSpPr>
          <p:cNvPr id="6" name="Slide Number Placeholder 5"/>
          <p:cNvSpPr>
            <a:spLocks noGrp="1"/>
          </p:cNvSpPr>
          <p:nvPr>
            <p:ph type="sldNum" sz="quarter" idx="12"/>
          </p:nvPr>
        </p:nvSpPr>
        <p:spPr/>
        <p:txBody>
          <a:bodyPr/>
          <a:lstStyle/>
          <a:p>
            <a:fld id="{E31375A4-56A4-47D6-9801-1991572033F7}" type="slidenum">
              <a:rPr lang="en-ZA" smtClean="0"/>
              <a:t>8</a:t>
            </a:fld>
            <a:endParaRPr lang="en-ZA"/>
          </a:p>
        </p:txBody>
      </p:sp>
    </p:spTree>
    <p:extLst>
      <p:ext uri="{BB962C8B-B14F-4D97-AF65-F5344CB8AC3E}">
        <p14:creationId xmlns:p14="http://schemas.microsoft.com/office/powerpoint/2010/main" val="2738627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CONCLUSION</a:t>
            </a:r>
            <a:endParaRPr lang="en-US" dirty="0"/>
          </a:p>
        </p:txBody>
      </p:sp>
      <p:sp>
        <p:nvSpPr>
          <p:cNvPr id="3" name="Content Placeholder 2"/>
          <p:cNvSpPr>
            <a:spLocks noGrp="1"/>
          </p:cNvSpPr>
          <p:nvPr>
            <p:ph sz="half" idx="1"/>
          </p:nvPr>
        </p:nvSpPr>
        <p:spPr>
          <a:xfrm>
            <a:off x="1066800" y="1825624"/>
            <a:ext cx="9637712" cy="4575175"/>
          </a:xfrm>
        </p:spPr>
        <p:txBody>
          <a:bodyPr>
            <a:normAutofit fontScale="62500" lnSpcReduction="20000"/>
          </a:bodyPr>
          <a:lstStyle/>
          <a:p>
            <a:pPr marL="0" indent="0">
              <a:buNone/>
            </a:pPr>
            <a:endParaRPr lang="en-US" dirty="0"/>
          </a:p>
          <a:p>
            <a:r>
              <a:rPr lang="en-US" dirty="0"/>
              <a:t>Overall, the analysis shows that the business performs differently across the year and across different referral channels. Google is the strongest channel because it consistently brings in the most visitors, leads, and converted customers. Direct and Email also perform well and stay close to Google, showing that these channels are important for driving steady traffic and sales. Social Media, however, performs weaker compared to the other channels and needs improvement to contribute more meaningfully to growth.</a:t>
            </a:r>
          </a:p>
          <a:p>
            <a:r>
              <a:rPr lang="en-US" dirty="0"/>
              <a:t>Looking at monthly performance, the middle of the year (especially July and August) is when the business performs best. These months have the highest visitors, leads, and conversions, showing that marketing campaigns or customer interest are much stronger during this period. In contrast, the beginning of the year (January, February, and March) shows very weak performance, with very low traffic, almost no leads, and very few or no conversions.</a:t>
            </a:r>
          </a:p>
          <a:p>
            <a:r>
              <a:rPr lang="en-US" dirty="0"/>
              <a:t>This clearly shows that business performance is not stable throughout the year. It depends heavily on timing and how effective marketing efforts are during different months. There are also issues in the funnel, where many users visit but do not always become leads or customers, especially in high-drop-off months.</a:t>
            </a:r>
          </a:p>
          <a:p>
            <a:r>
              <a:rPr lang="en-US" dirty="0"/>
              <a:t>In conclusion, the business has strong potential because it performs very well during peak months and through strong channels like Google. However, it needs to fix weak months, improve Social Media performance, and reduce drop-offs in the customer journey. If these improvements are made, the business can achieve more consistent growth and better results throughout the entire year.</a:t>
            </a:r>
          </a:p>
          <a:p>
            <a:endParaRPr lang="en-US" dirty="0"/>
          </a:p>
        </p:txBody>
      </p:sp>
      <p:sp>
        <p:nvSpPr>
          <p:cNvPr id="4" name="Slide Number Placeholder 3"/>
          <p:cNvSpPr>
            <a:spLocks noGrp="1"/>
          </p:cNvSpPr>
          <p:nvPr>
            <p:ph type="sldNum" sz="quarter" idx="12"/>
          </p:nvPr>
        </p:nvSpPr>
        <p:spPr/>
        <p:txBody>
          <a:bodyPr/>
          <a:lstStyle/>
          <a:p>
            <a:fld id="{E31375A4-56A4-47D6-9801-1991572033F7}" type="slidenum">
              <a:rPr lang="en-ZA" smtClean="0"/>
              <a:t>9</a:t>
            </a:fld>
            <a:endParaRPr lang="en-ZA"/>
          </a:p>
        </p:txBody>
      </p:sp>
    </p:spTree>
    <p:extLst>
      <p:ext uri="{BB962C8B-B14F-4D97-AF65-F5344CB8AC3E}">
        <p14:creationId xmlns:p14="http://schemas.microsoft.com/office/powerpoint/2010/main" val="27803843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Medical Design 16x9">
  <a:themeElements>
    <a:clrScheme name="MedicalHealth">
      <a:dk1>
        <a:sysClr val="windowText" lastClr="000000"/>
      </a:dk1>
      <a:lt1>
        <a:sysClr val="window" lastClr="FFFFFF"/>
      </a:lt1>
      <a:dk2>
        <a:srgbClr val="656367"/>
      </a:dk2>
      <a:lt2>
        <a:srgbClr val="F2F2F2"/>
      </a:lt2>
      <a:accent1>
        <a:srgbClr val="B82D2F"/>
      </a:accent1>
      <a:accent2>
        <a:srgbClr val="333333"/>
      </a:accent2>
      <a:accent3>
        <a:srgbClr val="2B4A63"/>
      </a:accent3>
      <a:accent4>
        <a:srgbClr val="445E45"/>
      </a:accent4>
      <a:accent5>
        <a:srgbClr val="5A3A64"/>
      </a:accent5>
      <a:accent6>
        <a:srgbClr val="DB8526"/>
      </a:accent6>
      <a:hlink>
        <a:srgbClr val="164E6E"/>
      </a:hlink>
      <a:folHlink>
        <a:srgbClr val="667F6D"/>
      </a:folHlink>
    </a:clrScheme>
    <a:fontScheme name="Franklin Gothic Medium">
      <a:maj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00001141.potx" id="{D7485564-6666-4DDB-B0D3-55F6E694D6E5}" vid="{6E950D30-6FC6-4411-BCFF-468AD9ECA787}"/>
    </a:ext>
  </a:extLst>
</a:theme>
</file>

<file path=ppt/theme/theme2.xml><?xml version="1.0" encoding="utf-8"?>
<a:theme xmlns:a="http://schemas.openxmlformats.org/drawingml/2006/main" name="Office Theme">
  <a:themeElements>
    <a:clrScheme name="MedicalHealth">
      <a:dk1>
        <a:sysClr val="windowText" lastClr="000000"/>
      </a:dk1>
      <a:lt1>
        <a:sysClr val="window" lastClr="FFFFFF"/>
      </a:lt1>
      <a:dk2>
        <a:srgbClr val="656367"/>
      </a:dk2>
      <a:lt2>
        <a:srgbClr val="F2F2F2"/>
      </a:lt2>
      <a:accent1>
        <a:srgbClr val="B82D2F"/>
      </a:accent1>
      <a:accent2>
        <a:srgbClr val="333333"/>
      </a:accent2>
      <a:accent3>
        <a:srgbClr val="2B4A63"/>
      </a:accent3>
      <a:accent4>
        <a:srgbClr val="445E45"/>
      </a:accent4>
      <a:accent5>
        <a:srgbClr val="5A3A64"/>
      </a:accent5>
      <a:accent6>
        <a:srgbClr val="DB8526"/>
      </a:accent6>
      <a:hlink>
        <a:srgbClr val="164E6E"/>
      </a:hlink>
      <a:folHlink>
        <a:srgbClr val="667F6D"/>
      </a:folHlink>
    </a:clrScheme>
    <a:fontScheme name="Franklin Gothic Medium">
      <a:maj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MedicalHealth">
      <a:dk1>
        <a:sysClr val="windowText" lastClr="000000"/>
      </a:dk1>
      <a:lt1>
        <a:sysClr val="window" lastClr="FFFFFF"/>
      </a:lt1>
      <a:dk2>
        <a:srgbClr val="656367"/>
      </a:dk2>
      <a:lt2>
        <a:srgbClr val="F2F2F2"/>
      </a:lt2>
      <a:accent1>
        <a:srgbClr val="B82D2F"/>
      </a:accent1>
      <a:accent2>
        <a:srgbClr val="333333"/>
      </a:accent2>
      <a:accent3>
        <a:srgbClr val="2B4A63"/>
      </a:accent3>
      <a:accent4>
        <a:srgbClr val="445E45"/>
      </a:accent4>
      <a:accent5>
        <a:srgbClr val="5A3A64"/>
      </a:accent5>
      <a:accent6>
        <a:srgbClr val="DB8526"/>
      </a:accent6>
      <a:hlink>
        <a:srgbClr val="164E6E"/>
      </a:hlink>
      <a:folHlink>
        <a:srgbClr val="667F6D"/>
      </a:folHlink>
    </a:clrScheme>
    <a:fontScheme name="Franklin Gothic Medium">
      <a:maj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Medical design presentation (widescreen)</Template>
  <TotalTime>103</TotalTime>
  <Words>1565</Words>
  <Application>Microsoft Office PowerPoint</Application>
  <PresentationFormat>Widescreen</PresentationFormat>
  <Paragraphs>91</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Franklin Gothic Medium</vt:lpstr>
      <vt:lpstr>Verdana</vt:lpstr>
      <vt:lpstr>Vijaya</vt:lpstr>
      <vt:lpstr>Medical Design 16x9</vt:lpstr>
      <vt:lpstr>Marketing &amp; Lead Funnel Data</vt:lpstr>
      <vt:lpstr>TABLE OF CONTENTS</vt:lpstr>
      <vt:lpstr>INTRODUCTION</vt:lpstr>
      <vt:lpstr>Monthly Conversion Rates</vt:lpstr>
      <vt:lpstr>Monthly visitors and drop-off rate</vt:lpstr>
      <vt:lpstr>Performance of Referral Channels</vt:lpstr>
      <vt:lpstr>Performance of Referral Channels</vt:lpstr>
      <vt:lpstr>RECOMMENDATIONS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Layout</dc:title>
  <dc:creator>Gomolemo</dc:creator>
  <cp:lastModifiedBy>Gomolemo</cp:lastModifiedBy>
  <cp:revision>10</cp:revision>
  <dcterms:created xsi:type="dcterms:W3CDTF">2026-05-26T23:53:15Z</dcterms:created>
  <dcterms:modified xsi:type="dcterms:W3CDTF">2026-05-27T01:37:10Z</dcterms:modified>
</cp:coreProperties>
</file>